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62" r:id="rId4"/>
    <p:sldId id="263" r:id="rId5"/>
    <p:sldId id="264" r:id="rId6"/>
    <p:sldId id="265" r:id="rId7"/>
    <p:sldId id="266" r:id="rId8"/>
    <p:sldId id="276" r:id="rId9"/>
    <p:sldId id="271" r:id="rId10"/>
    <p:sldId id="267" r:id="rId11"/>
    <p:sldId id="269" r:id="rId12"/>
    <p:sldId id="272" r:id="rId13"/>
    <p:sldId id="268" r:id="rId14"/>
    <p:sldId id="273" r:id="rId15"/>
    <p:sldId id="274" r:id="rId16"/>
    <p:sldId id="2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01" d="100"/>
          <a:sy n="101" d="100"/>
        </p:scale>
        <p:origin x="132"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99D10-DD0E-A8C0-D0B0-4247A82E49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702438-A39D-6D1E-AC9C-788F274B9F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1860F4C-78D4-BF76-70D3-E20E6B55E53B}"/>
              </a:ext>
            </a:extLst>
          </p:cNvPr>
          <p:cNvSpPr>
            <a:spLocks noGrp="1"/>
          </p:cNvSpPr>
          <p:nvPr>
            <p:ph type="dt" sz="half" idx="10"/>
          </p:nvPr>
        </p:nvSpPr>
        <p:spPr/>
        <p:txBody>
          <a:bodyPr/>
          <a:lstStyle/>
          <a:p>
            <a:fld id="{3473DA11-BEBE-477D-A21C-8C3AB5531F2D}" type="datetimeFigureOut">
              <a:rPr lang="en-US" smtClean="0"/>
              <a:t>2/6/2025</a:t>
            </a:fld>
            <a:endParaRPr lang="en-US"/>
          </a:p>
        </p:txBody>
      </p:sp>
      <p:sp>
        <p:nvSpPr>
          <p:cNvPr id="5" name="Footer Placeholder 4">
            <a:extLst>
              <a:ext uri="{FF2B5EF4-FFF2-40B4-BE49-F238E27FC236}">
                <a16:creationId xmlns:a16="http://schemas.microsoft.com/office/drawing/2014/main" id="{FCA12AB4-26CF-252C-214A-D45C316417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D8EA04-22CD-D4AD-912C-3532A55940C7}"/>
              </a:ext>
            </a:extLst>
          </p:cNvPr>
          <p:cNvSpPr>
            <a:spLocks noGrp="1"/>
          </p:cNvSpPr>
          <p:nvPr>
            <p:ph type="sldNum" sz="quarter" idx="12"/>
          </p:nvPr>
        </p:nvSpPr>
        <p:spPr/>
        <p:txBody>
          <a:bodyPr/>
          <a:lstStyle/>
          <a:p>
            <a:fld id="{0E2EF810-BBF9-4C49-98B7-79FC6EDB7FCE}" type="slidenum">
              <a:rPr lang="en-US" smtClean="0"/>
              <a:t>‹#›</a:t>
            </a:fld>
            <a:endParaRPr lang="en-US"/>
          </a:p>
        </p:txBody>
      </p:sp>
    </p:spTree>
    <p:extLst>
      <p:ext uri="{BB962C8B-B14F-4D97-AF65-F5344CB8AC3E}">
        <p14:creationId xmlns:p14="http://schemas.microsoft.com/office/powerpoint/2010/main" val="3496469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D87E-C489-795D-2FC1-F81C80DE7F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DA1B3A-E066-D96D-B7FB-3557EC99E1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6C6419-C813-4CF9-A8A0-F36D2D0DF442}"/>
              </a:ext>
            </a:extLst>
          </p:cNvPr>
          <p:cNvSpPr>
            <a:spLocks noGrp="1"/>
          </p:cNvSpPr>
          <p:nvPr>
            <p:ph type="dt" sz="half" idx="10"/>
          </p:nvPr>
        </p:nvSpPr>
        <p:spPr/>
        <p:txBody>
          <a:bodyPr/>
          <a:lstStyle/>
          <a:p>
            <a:fld id="{3473DA11-BEBE-477D-A21C-8C3AB5531F2D}" type="datetimeFigureOut">
              <a:rPr lang="en-US" smtClean="0"/>
              <a:t>2/6/2025</a:t>
            </a:fld>
            <a:endParaRPr lang="en-US"/>
          </a:p>
        </p:txBody>
      </p:sp>
      <p:sp>
        <p:nvSpPr>
          <p:cNvPr id="5" name="Footer Placeholder 4">
            <a:extLst>
              <a:ext uri="{FF2B5EF4-FFF2-40B4-BE49-F238E27FC236}">
                <a16:creationId xmlns:a16="http://schemas.microsoft.com/office/drawing/2014/main" id="{06797B26-2DDC-B0C9-E98A-12381BFD13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B6088E-1A67-A5D3-F73E-274B378395BA}"/>
              </a:ext>
            </a:extLst>
          </p:cNvPr>
          <p:cNvSpPr>
            <a:spLocks noGrp="1"/>
          </p:cNvSpPr>
          <p:nvPr>
            <p:ph type="sldNum" sz="quarter" idx="12"/>
          </p:nvPr>
        </p:nvSpPr>
        <p:spPr/>
        <p:txBody>
          <a:bodyPr/>
          <a:lstStyle/>
          <a:p>
            <a:fld id="{0E2EF810-BBF9-4C49-98B7-79FC6EDB7FCE}" type="slidenum">
              <a:rPr lang="en-US" smtClean="0"/>
              <a:t>‹#›</a:t>
            </a:fld>
            <a:endParaRPr lang="en-US"/>
          </a:p>
        </p:txBody>
      </p:sp>
    </p:spTree>
    <p:extLst>
      <p:ext uri="{BB962C8B-B14F-4D97-AF65-F5344CB8AC3E}">
        <p14:creationId xmlns:p14="http://schemas.microsoft.com/office/powerpoint/2010/main" val="1154272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6F73B-1709-F138-0916-A628979DD5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78B380-8785-3114-5A6C-178818EF96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927FD3-272B-4C21-C216-0F4AC58DDC72}"/>
              </a:ext>
            </a:extLst>
          </p:cNvPr>
          <p:cNvSpPr>
            <a:spLocks noGrp="1"/>
          </p:cNvSpPr>
          <p:nvPr>
            <p:ph type="dt" sz="half" idx="10"/>
          </p:nvPr>
        </p:nvSpPr>
        <p:spPr/>
        <p:txBody>
          <a:bodyPr/>
          <a:lstStyle/>
          <a:p>
            <a:fld id="{3473DA11-BEBE-477D-A21C-8C3AB5531F2D}" type="datetimeFigureOut">
              <a:rPr lang="en-US" smtClean="0"/>
              <a:t>2/6/2025</a:t>
            </a:fld>
            <a:endParaRPr lang="en-US"/>
          </a:p>
        </p:txBody>
      </p:sp>
      <p:sp>
        <p:nvSpPr>
          <p:cNvPr id="5" name="Footer Placeholder 4">
            <a:extLst>
              <a:ext uri="{FF2B5EF4-FFF2-40B4-BE49-F238E27FC236}">
                <a16:creationId xmlns:a16="http://schemas.microsoft.com/office/drawing/2014/main" id="{A52B36AC-A0DC-932B-C7F8-E2621BEFC9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0B370D-3978-CB92-CEAD-8F4D9BC597F0}"/>
              </a:ext>
            </a:extLst>
          </p:cNvPr>
          <p:cNvSpPr>
            <a:spLocks noGrp="1"/>
          </p:cNvSpPr>
          <p:nvPr>
            <p:ph type="sldNum" sz="quarter" idx="12"/>
          </p:nvPr>
        </p:nvSpPr>
        <p:spPr/>
        <p:txBody>
          <a:bodyPr/>
          <a:lstStyle/>
          <a:p>
            <a:fld id="{0E2EF810-BBF9-4C49-98B7-79FC6EDB7FCE}" type="slidenum">
              <a:rPr lang="en-US" smtClean="0"/>
              <a:t>‹#›</a:t>
            </a:fld>
            <a:endParaRPr lang="en-US"/>
          </a:p>
        </p:txBody>
      </p:sp>
    </p:spTree>
    <p:extLst>
      <p:ext uri="{BB962C8B-B14F-4D97-AF65-F5344CB8AC3E}">
        <p14:creationId xmlns:p14="http://schemas.microsoft.com/office/powerpoint/2010/main" val="2672069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C31E7-8852-E73B-411A-12D4489F32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4E662E-9133-346A-3B67-222587C8E6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ED4261-811A-8C5D-3103-E76B9F3BE5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45E790-E2B1-4AFB-ECEC-C979F59A9AF8}"/>
              </a:ext>
            </a:extLst>
          </p:cNvPr>
          <p:cNvSpPr>
            <a:spLocks noGrp="1"/>
          </p:cNvSpPr>
          <p:nvPr>
            <p:ph type="dt" sz="half" idx="10"/>
          </p:nvPr>
        </p:nvSpPr>
        <p:spPr/>
        <p:txBody>
          <a:bodyPr/>
          <a:lstStyle/>
          <a:p>
            <a:fld id="{3473DA11-BEBE-477D-A21C-8C3AB5531F2D}" type="datetimeFigureOut">
              <a:rPr lang="en-US" smtClean="0"/>
              <a:t>2/6/2025</a:t>
            </a:fld>
            <a:endParaRPr lang="en-US"/>
          </a:p>
        </p:txBody>
      </p:sp>
      <p:sp>
        <p:nvSpPr>
          <p:cNvPr id="6" name="Footer Placeholder 5">
            <a:extLst>
              <a:ext uri="{FF2B5EF4-FFF2-40B4-BE49-F238E27FC236}">
                <a16:creationId xmlns:a16="http://schemas.microsoft.com/office/drawing/2014/main" id="{6FEE4DA7-250B-0580-352E-C6311046B1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037EAB-6783-0FEB-D30B-FC647858DD42}"/>
              </a:ext>
            </a:extLst>
          </p:cNvPr>
          <p:cNvSpPr>
            <a:spLocks noGrp="1"/>
          </p:cNvSpPr>
          <p:nvPr>
            <p:ph type="sldNum" sz="quarter" idx="12"/>
          </p:nvPr>
        </p:nvSpPr>
        <p:spPr/>
        <p:txBody>
          <a:bodyPr/>
          <a:lstStyle/>
          <a:p>
            <a:fld id="{0E2EF810-BBF9-4C49-98B7-79FC6EDB7FCE}" type="slidenum">
              <a:rPr lang="en-US" smtClean="0"/>
              <a:t>‹#›</a:t>
            </a:fld>
            <a:endParaRPr lang="en-US"/>
          </a:p>
        </p:txBody>
      </p:sp>
    </p:spTree>
    <p:extLst>
      <p:ext uri="{BB962C8B-B14F-4D97-AF65-F5344CB8AC3E}">
        <p14:creationId xmlns:p14="http://schemas.microsoft.com/office/powerpoint/2010/main" val="4236527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5A47A-C168-5F6D-BD46-60DC51A159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8A09EEC-EB6A-1BFF-335C-BB1F3CBDA7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B885B-A58B-E52F-0C55-3243205119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03D526-A377-FF0B-D8E7-81D0829C75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BC02A6-8D39-21D3-DD4C-54BAFF1377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F873FF-65F4-C39A-9348-07996BA15A22}"/>
              </a:ext>
            </a:extLst>
          </p:cNvPr>
          <p:cNvSpPr>
            <a:spLocks noGrp="1"/>
          </p:cNvSpPr>
          <p:nvPr>
            <p:ph type="dt" sz="half" idx="10"/>
          </p:nvPr>
        </p:nvSpPr>
        <p:spPr/>
        <p:txBody>
          <a:bodyPr/>
          <a:lstStyle/>
          <a:p>
            <a:fld id="{3473DA11-BEBE-477D-A21C-8C3AB5531F2D}" type="datetimeFigureOut">
              <a:rPr lang="en-US" smtClean="0"/>
              <a:t>2/6/2025</a:t>
            </a:fld>
            <a:endParaRPr lang="en-US"/>
          </a:p>
        </p:txBody>
      </p:sp>
      <p:sp>
        <p:nvSpPr>
          <p:cNvPr id="8" name="Footer Placeholder 7">
            <a:extLst>
              <a:ext uri="{FF2B5EF4-FFF2-40B4-BE49-F238E27FC236}">
                <a16:creationId xmlns:a16="http://schemas.microsoft.com/office/drawing/2014/main" id="{06795BF6-4CCC-46EC-4BBE-09F1ED21E6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20AC1A-82A5-A352-A450-254BC640588A}"/>
              </a:ext>
            </a:extLst>
          </p:cNvPr>
          <p:cNvSpPr>
            <a:spLocks noGrp="1"/>
          </p:cNvSpPr>
          <p:nvPr>
            <p:ph type="sldNum" sz="quarter" idx="12"/>
          </p:nvPr>
        </p:nvSpPr>
        <p:spPr/>
        <p:txBody>
          <a:bodyPr/>
          <a:lstStyle/>
          <a:p>
            <a:fld id="{0E2EF810-BBF9-4C49-98B7-79FC6EDB7FCE}" type="slidenum">
              <a:rPr lang="en-US" smtClean="0"/>
              <a:t>‹#›</a:t>
            </a:fld>
            <a:endParaRPr lang="en-US"/>
          </a:p>
        </p:txBody>
      </p:sp>
    </p:spTree>
    <p:extLst>
      <p:ext uri="{BB962C8B-B14F-4D97-AF65-F5344CB8AC3E}">
        <p14:creationId xmlns:p14="http://schemas.microsoft.com/office/powerpoint/2010/main" val="3498547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7CCD9-241A-19B2-5B0F-05642EFF53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FA70CA-7F77-4CFC-4A71-BA43576C948D}"/>
              </a:ext>
            </a:extLst>
          </p:cNvPr>
          <p:cNvSpPr>
            <a:spLocks noGrp="1"/>
          </p:cNvSpPr>
          <p:nvPr>
            <p:ph type="dt" sz="half" idx="10"/>
          </p:nvPr>
        </p:nvSpPr>
        <p:spPr/>
        <p:txBody>
          <a:bodyPr/>
          <a:lstStyle/>
          <a:p>
            <a:fld id="{3473DA11-BEBE-477D-A21C-8C3AB5531F2D}" type="datetimeFigureOut">
              <a:rPr lang="en-US" smtClean="0"/>
              <a:t>2/6/2025</a:t>
            </a:fld>
            <a:endParaRPr lang="en-US"/>
          </a:p>
        </p:txBody>
      </p:sp>
      <p:sp>
        <p:nvSpPr>
          <p:cNvPr id="4" name="Footer Placeholder 3">
            <a:extLst>
              <a:ext uri="{FF2B5EF4-FFF2-40B4-BE49-F238E27FC236}">
                <a16:creationId xmlns:a16="http://schemas.microsoft.com/office/drawing/2014/main" id="{6BC9D3C2-CA71-CBEC-B417-A5A0D645ED3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8883DA4-DDAD-795D-8AB5-6D7534C91C7F}"/>
              </a:ext>
            </a:extLst>
          </p:cNvPr>
          <p:cNvSpPr>
            <a:spLocks noGrp="1"/>
          </p:cNvSpPr>
          <p:nvPr>
            <p:ph type="sldNum" sz="quarter" idx="12"/>
          </p:nvPr>
        </p:nvSpPr>
        <p:spPr/>
        <p:txBody>
          <a:bodyPr/>
          <a:lstStyle/>
          <a:p>
            <a:fld id="{0E2EF810-BBF9-4C49-98B7-79FC6EDB7FCE}" type="slidenum">
              <a:rPr lang="en-US" smtClean="0"/>
              <a:t>‹#›</a:t>
            </a:fld>
            <a:endParaRPr lang="en-US"/>
          </a:p>
        </p:txBody>
      </p:sp>
    </p:spTree>
    <p:extLst>
      <p:ext uri="{BB962C8B-B14F-4D97-AF65-F5344CB8AC3E}">
        <p14:creationId xmlns:p14="http://schemas.microsoft.com/office/powerpoint/2010/main" val="2252568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3EABA7-DAAF-033F-1B83-B18E79F7FA89}"/>
              </a:ext>
            </a:extLst>
          </p:cNvPr>
          <p:cNvSpPr>
            <a:spLocks noGrp="1"/>
          </p:cNvSpPr>
          <p:nvPr>
            <p:ph type="dt" sz="half" idx="10"/>
          </p:nvPr>
        </p:nvSpPr>
        <p:spPr/>
        <p:txBody>
          <a:bodyPr/>
          <a:lstStyle/>
          <a:p>
            <a:fld id="{3473DA11-BEBE-477D-A21C-8C3AB5531F2D}" type="datetimeFigureOut">
              <a:rPr lang="en-US" smtClean="0"/>
              <a:t>2/6/2025</a:t>
            </a:fld>
            <a:endParaRPr lang="en-US"/>
          </a:p>
        </p:txBody>
      </p:sp>
      <p:sp>
        <p:nvSpPr>
          <p:cNvPr id="3" name="Footer Placeholder 2">
            <a:extLst>
              <a:ext uri="{FF2B5EF4-FFF2-40B4-BE49-F238E27FC236}">
                <a16:creationId xmlns:a16="http://schemas.microsoft.com/office/drawing/2014/main" id="{5152B49C-3780-3555-0CC4-0285FD98EFB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286871-0354-B05B-D30A-610C5331FB5D}"/>
              </a:ext>
            </a:extLst>
          </p:cNvPr>
          <p:cNvSpPr>
            <a:spLocks noGrp="1"/>
          </p:cNvSpPr>
          <p:nvPr>
            <p:ph type="sldNum" sz="quarter" idx="12"/>
          </p:nvPr>
        </p:nvSpPr>
        <p:spPr/>
        <p:txBody>
          <a:bodyPr/>
          <a:lstStyle/>
          <a:p>
            <a:fld id="{0E2EF810-BBF9-4C49-98B7-79FC6EDB7FCE}" type="slidenum">
              <a:rPr lang="en-US" smtClean="0"/>
              <a:t>‹#›</a:t>
            </a:fld>
            <a:endParaRPr lang="en-US"/>
          </a:p>
        </p:txBody>
      </p:sp>
    </p:spTree>
    <p:extLst>
      <p:ext uri="{BB962C8B-B14F-4D97-AF65-F5344CB8AC3E}">
        <p14:creationId xmlns:p14="http://schemas.microsoft.com/office/powerpoint/2010/main" val="1096046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D6DD7-63DE-56A9-A2B7-34DA17DD90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91E8C8-EE88-7B80-17DE-698F0AB949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22D721-04FF-B1BF-D6C4-91E1CDEFDE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E14094-8E0B-F865-3A3D-93EC582C5F9A}"/>
              </a:ext>
            </a:extLst>
          </p:cNvPr>
          <p:cNvSpPr>
            <a:spLocks noGrp="1"/>
          </p:cNvSpPr>
          <p:nvPr>
            <p:ph type="dt" sz="half" idx="10"/>
          </p:nvPr>
        </p:nvSpPr>
        <p:spPr/>
        <p:txBody>
          <a:bodyPr/>
          <a:lstStyle/>
          <a:p>
            <a:fld id="{3473DA11-BEBE-477D-A21C-8C3AB5531F2D}" type="datetimeFigureOut">
              <a:rPr lang="en-US" smtClean="0"/>
              <a:t>2/6/2025</a:t>
            </a:fld>
            <a:endParaRPr lang="en-US"/>
          </a:p>
        </p:txBody>
      </p:sp>
      <p:sp>
        <p:nvSpPr>
          <p:cNvPr id="6" name="Footer Placeholder 5">
            <a:extLst>
              <a:ext uri="{FF2B5EF4-FFF2-40B4-BE49-F238E27FC236}">
                <a16:creationId xmlns:a16="http://schemas.microsoft.com/office/drawing/2014/main" id="{A065BB9D-290B-AC4D-AF23-7080208F07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0AFC79-1F48-D0A4-0EBC-B9B6370F8BA0}"/>
              </a:ext>
            </a:extLst>
          </p:cNvPr>
          <p:cNvSpPr>
            <a:spLocks noGrp="1"/>
          </p:cNvSpPr>
          <p:nvPr>
            <p:ph type="sldNum" sz="quarter" idx="12"/>
          </p:nvPr>
        </p:nvSpPr>
        <p:spPr/>
        <p:txBody>
          <a:bodyPr/>
          <a:lstStyle/>
          <a:p>
            <a:fld id="{0E2EF810-BBF9-4C49-98B7-79FC6EDB7FCE}" type="slidenum">
              <a:rPr lang="en-US" smtClean="0"/>
              <a:t>‹#›</a:t>
            </a:fld>
            <a:endParaRPr lang="en-US"/>
          </a:p>
        </p:txBody>
      </p:sp>
    </p:spTree>
    <p:extLst>
      <p:ext uri="{BB962C8B-B14F-4D97-AF65-F5344CB8AC3E}">
        <p14:creationId xmlns:p14="http://schemas.microsoft.com/office/powerpoint/2010/main" val="4175038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17E0-0C3D-91C9-0BCB-60D006DB4D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0C9634-DE81-6EF0-7CF1-CF5CCCD275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A52506-C28E-72BA-F0F1-2764B6F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230928-03FC-5ED8-445A-6B8943FC33DC}"/>
              </a:ext>
            </a:extLst>
          </p:cNvPr>
          <p:cNvSpPr>
            <a:spLocks noGrp="1"/>
          </p:cNvSpPr>
          <p:nvPr>
            <p:ph type="dt" sz="half" idx="10"/>
          </p:nvPr>
        </p:nvSpPr>
        <p:spPr/>
        <p:txBody>
          <a:bodyPr/>
          <a:lstStyle/>
          <a:p>
            <a:fld id="{3473DA11-BEBE-477D-A21C-8C3AB5531F2D}" type="datetimeFigureOut">
              <a:rPr lang="en-US" smtClean="0"/>
              <a:t>2/6/2025</a:t>
            </a:fld>
            <a:endParaRPr lang="en-US"/>
          </a:p>
        </p:txBody>
      </p:sp>
      <p:sp>
        <p:nvSpPr>
          <p:cNvPr id="6" name="Footer Placeholder 5">
            <a:extLst>
              <a:ext uri="{FF2B5EF4-FFF2-40B4-BE49-F238E27FC236}">
                <a16:creationId xmlns:a16="http://schemas.microsoft.com/office/drawing/2014/main" id="{BC91FE3C-A64A-04A4-9390-3DE0E7A02C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BCE1AA-4B32-4CD5-63D1-47993DF84578}"/>
              </a:ext>
            </a:extLst>
          </p:cNvPr>
          <p:cNvSpPr>
            <a:spLocks noGrp="1"/>
          </p:cNvSpPr>
          <p:nvPr>
            <p:ph type="sldNum" sz="quarter" idx="12"/>
          </p:nvPr>
        </p:nvSpPr>
        <p:spPr/>
        <p:txBody>
          <a:bodyPr/>
          <a:lstStyle/>
          <a:p>
            <a:fld id="{0E2EF810-BBF9-4C49-98B7-79FC6EDB7FCE}" type="slidenum">
              <a:rPr lang="en-US" smtClean="0"/>
              <a:t>‹#›</a:t>
            </a:fld>
            <a:endParaRPr lang="en-US"/>
          </a:p>
        </p:txBody>
      </p:sp>
    </p:spTree>
    <p:extLst>
      <p:ext uri="{BB962C8B-B14F-4D97-AF65-F5344CB8AC3E}">
        <p14:creationId xmlns:p14="http://schemas.microsoft.com/office/powerpoint/2010/main" val="3675195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3C1A2-473A-A9A0-F8B1-E4D7A3FC62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C85B05-E78C-A8C4-CB93-9FA4FD7E5C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A7B8FB-56FB-48C9-4C56-6F1A5B366217}"/>
              </a:ext>
            </a:extLst>
          </p:cNvPr>
          <p:cNvSpPr>
            <a:spLocks noGrp="1"/>
          </p:cNvSpPr>
          <p:nvPr>
            <p:ph type="dt" sz="half" idx="10"/>
          </p:nvPr>
        </p:nvSpPr>
        <p:spPr/>
        <p:txBody>
          <a:bodyPr/>
          <a:lstStyle/>
          <a:p>
            <a:fld id="{3473DA11-BEBE-477D-A21C-8C3AB5531F2D}" type="datetimeFigureOut">
              <a:rPr lang="en-US" smtClean="0"/>
              <a:t>2/6/2025</a:t>
            </a:fld>
            <a:endParaRPr lang="en-US"/>
          </a:p>
        </p:txBody>
      </p:sp>
      <p:sp>
        <p:nvSpPr>
          <p:cNvPr id="5" name="Footer Placeholder 4">
            <a:extLst>
              <a:ext uri="{FF2B5EF4-FFF2-40B4-BE49-F238E27FC236}">
                <a16:creationId xmlns:a16="http://schemas.microsoft.com/office/drawing/2014/main" id="{092B2395-70C1-9936-7773-BE0511FBD3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869ECA-EA0E-0007-043F-DAAD6476F711}"/>
              </a:ext>
            </a:extLst>
          </p:cNvPr>
          <p:cNvSpPr>
            <a:spLocks noGrp="1"/>
          </p:cNvSpPr>
          <p:nvPr>
            <p:ph type="sldNum" sz="quarter" idx="12"/>
          </p:nvPr>
        </p:nvSpPr>
        <p:spPr/>
        <p:txBody>
          <a:bodyPr/>
          <a:lstStyle/>
          <a:p>
            <a:fld id="{0E2EF810-BBF9-4C49-98B7-79FC6EDB7FCE}" type="slidenum">
              <a:rPr lang="en-US" smtClean="0"/>
              <a:t>‹#›</a:t>
            </a:fld>
            <a:endParaRPr lang="en-US"/>
          </a:p>
        </p:txBody>
      </p:sp>
    </p:spTree>
    <p:extLst>
      <p:ext uri="{BB962C8B-B14F-4D97-AF65-F5344CB8AC3E}">
        <p14:creationId xmlns:p14="http://schemas.microsoft.com/office/powerpoint/2010/main" val="1919910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BBE7DD-4919-752D-5B57-2F8854933A2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626A9C9-A4F3-A011-0B1C-3982ED3F3D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D41B68-E15F-F79C-FE6A-06BBBBBC70F8}"/>
              </a:ext>
            </a:extLst>
          </p:cNvPr>
          <p:cNvSpPr>
            <a:spLocks noGrp="1"/>
          </p:cNvSpPr>
          <p:nvPr>
            <p:ph type="dt" sz="half" idx="10"/>
          </p:nvPr>
        </p:nvSpPr>
        <p:spPr/>
        <p:txBody>
          <a:bodyPr/>
          <a:lstStyle/>
          <a:p>
            <a:fld id="{3473DA11-BEBE-477D-A21C-8C3AB5531F2D}" type="datetimeFigureOut">
              <a:rPr lang="en-US" smtClean="0"/>
              <a:t>2/6/2025</a:t>
            </a:fld>
            <a:endParaRPr lang="en-US"/>
          </a:p>
        </p:txBody>
      </p:sp>
      <p:sp>
        <p:nvSpPr>
          <p:cNvPr id="5" name="Footer Placeholder 4">
            <a:extLst>
              <a:ext uri="{FF2B5EF4-FFF2-40B4-BE49-F238E27FC236}">
                <a16:creationId xmlns:a16="http://schemas.microsoft.com/office/drawing/2014/main" id="{B18BF120-F3A3-B7F9-C606-DD3476AF11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F7F13B-85E5-E369-EA7D-15A8F1807472}"/>
              </a:ext>
            </a:extLst>
          </p:cNvPr>
          <p:cNvSpPr>
            <a:spLocks noGrp="1"/>
          </p:cNvSpPr>
          <p:nvPr>
            <p:ph type="sldNum" sz="quarter" idx="12"/>
          </p:nvPr>
        </p:nvSpPr>
        <p:spPr/>
        <p:txBody>
          <a:bodyPr/>
          <a:lstStyle/>
          <a:p>
            <a:fld id="{0E2EF810-BBF9-4C49-98B7-79FC6EDB7FCE}" type="slidenum">
              <a:rPr lang="en-US" smtClean="0"/>
              <a:t>‹#›</a:t>
            </a:fld>
            <a:endParaRPr lang="en-US"/>
          </a:p>
        </p:txBody>
      </p:sp>
    </p:spTree>
    <p:extLst>
      <p:ext uri="{BB962C8B-B14F-4D97-AF65-F5344CB8AC3E}">
        <p14:creationId xmlns:p14="http://schemas.microsoft.com/office/powerpoint/2010/main" val="404185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F9E1DB-9F7E-6468-669E-D521B65D5F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9670ED-EF16-826F-CFDD-AA05BE480E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1CF5D1-6D24-3CD8-5159-DB7672E02D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73DA11-BEBE-477D-A21C-8C3AB5531F2D}" type="datetimeFigureOut">
              <a:rPr lang="en-US" smtClean="0"/>
              <a:t>2/6/2025</a:t>
            </a:fld>
            <a:endParaRPr lang="en-US"/>
          </a:p>
        </p:txBody>
      </p:sp>
      <p:sp>
        <p:nvSpPr>
          <p:cNvPr id="5" name="Footer Placeholder 4">
            <a:extLst>
              <a:ext uri="{FF2B5EF4-FFF2-40B4-BE49-F238E27FC236}">
                <a16:creationId xmlns:a16="http://schemas.microsoft.com/office/drawing/2014/main" id="{3F909B85-13D5-05EA-C54E-FAADCA9BC3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24D763C-3AEA-A4A5-DBCC-AFC132BF6C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2EF810-BBF9-4C49-98B7-79FC6EDB7FCE}" type="slidenum">
              <a:rPr lang="en-US" smtClean="0"/>
              <a:t>‹#›</a:t>
            </a:fld>
            <a:endParaRPr lang="en-US"/>
          </a:p>
        </p:txBody>
      </p:sp>
    </p:spTree>
    <p:extLst>
      <p:ext uri="{BB962C8B-B14F-4D97-AF65-F5344CB8AC3E}">
        <p14:creationId xmlns:p14="http://schemas.microsoft.com/office/powerpoint/2010/main" val="22851989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C6620-965C-A2B8-4ED3-34FA3F706079}"/>
              </a:ext>
            </a:extLst>
          </p:cNvPr>
          <p:cNvSpPr>
            <a:spLocks noGrp="1"/>
          </p:cNvSpPr>
          <p:nvPr>
            <p:ph type="ctrTitle"/>
          </p:nvPr>
        </p:nvSpPr>
        <p:spPr>
          <a:xfrm>
            <a:off x="1524000" y="149291"/>
            <a:ext cx="9144000" cy="1256943"/>
          </a:xfrm>
        </p:spPr>
        <p:txBody>
          <a:bodyPr/>
          <a:lstStyle/>
          <a:p>
            <a:r>
              <a:rPr lang="en-US" dirty="0"/>
              <a:t>Joins and Views</a:t>
            </a:r>
          </a:p>
        </p:txBody>
      </p:sp>
      <p:sp>
        <p:nvSpPr>
          <p:cNvPr id="3" name="Subtitle 2">
            <a:extLst>
              <a:ext uri="{FF2B5EF4-FFF2-40B4-BE49-F238E27FC236}">
                <a16:creationId xmlns:a16="http://schemas.microsoft.com/office/drawing/2014/main" id="{615F95EE-4109-1CA9-F637-9D86F126CF79}"/>
              </a:ext>
            </a:extLst>
          </p:cNvPr>
          <p:cNvSpPr>
            <a:spLocks noGrp="1"/>
          </p:cNvSpPr>
          <p:nvPr>
            <p:ph type="subTitle" idx="1"/>
          </p:nvPr>
        </p:nvSpPr>
        <p:spPr>
          <a:xfrm>
            <a:off x="1318727" y="1698592"/>
            <a:ext cx="9144000" cy="4534255"/>
          </a:xfrm>
        </p:spPr>
        <p:txBody>
          <a:bodyPr>
            <a:normAutofit/>
          </a:bodyPr>
          <a:lstStyle/>
          <a:p>
            <a:r>
              <a:rPr lang="en-US" dirty="0"/>
              <a:t>If you look at the Entity Relationship diagram (ER) for the chinook data set on the next page, you will notice that the information is kind of spread out.   </a:t>
            </a:r>
          </a:p>
          <a:p>
            <a:r>
              <a:rPr lang="en-US" dirty="0"/>
              <a:t>If we look a “track” we might be interesting in knowing what album the track came off of,  but it doesn’t tell us that, it just tells us the </a:t>
            </a:r>
            <a:r>
              <a:rPr lang="en-US" dirty="0" err="1"/>
              <a:t>albumid</a:t>
            </a:r>
            <a:r>
              <a:rPr lang="en-US" dirty="0"/>
              <a:t>.  Why?</a:t>
            </a:r>
          </a:p>
          <a:p>
            <a:r>
              <a:rPr lang="en-US" dirty="0"/>
              <a:t>Edgar Codd worked out a lot of ideas about how data should be separated and stored for maximum storage efficiency and for robust maintenance, he really developed the ideas behind relational databases.  Many tracks come from each album,  so we should store the album information only once per album, and then use the relationship between tracks and albums to find keep track of this information.</a:t>
            </a:r>
          </a:p>
          <a:p>
            <a:endParaRPr lang="en-US" dirty="0"/>
          </a:p>
        </p:txBody>
      </p:sp>
    </p:spTree>
    <p:extLst>
      <p:ext uri="{BB962C8B-B14F-4D97-AF65-F5344CB8AC3E}">
        <p14:creationId xmlns:p14="http://schemas.microsoft.com/office/powerpoint/2010/main" val="2572409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3E26E4-176F-F31A-8CDD-06AD210F557C}"/>
              </a:ext>
            </a:extLst>
          </p:cNvPr>
          <p:cNvPicPr>
            <a:picLocks noChangeAspect="1"/>
          </p:cNvPicPr>
          <p:nvPr/>
        </p:nvPicPr>
        <p:blipFill>
          <a:blip r:embed="rId2"/>
          <a:stretch>
            <a:fillRect/>
          </a:stretch>
        </p:blipFill>
        <p:spPr>
          <a:xfrm>
            <a:off x="580417" y="1137922"/>
            <a:ext cx="11031166" cy="5454750"/>
          </a:xfrm>
          <a:prstGeom prst="rect">
            <a:avLst/>
          </a:prstGeom>
        </p:spPr>
      </p:pic>
      <p:sp>
        <p:nvSpPr>
          <p:cNvPr id="4" name="TextBox 3">
            <a:extLst>
              <a:ext uri="{FF2B5EF4-FFF2-40B4-BE49-F238E27FC236}">
                <a16:creationId xmlns:a16="http://schemas.microsoft.com/office/drawing/2014/main" id="{EA859DF8-6BF8-21BC-F688-1D2EF6697415}"/>
              </a:ext>
            </a:extLst>
          </p:cNvPr>
          <p:cNvSpPr txBox="1"/>
          <p:nvPr/>
        </p:nvSpPr>
        <p:spPr>
          <a:xfrm>
            <a:off x="195943" y="233265"/>
            <a:ext cx="11700588" cy="369332"/>
          </a:xfrm>
          <a:prstGeom prst="rect">
            <a:avLst/>
          </a:prstGeom>
          <a:noFill/>
        </p:spPr>
        <p:txBody>
          <a:bodyPr wrap="square" rtlCol="0">
            <a:spAutoFit/>
          </a:bodyPr>
          <a:lstStyle/>
          <a:p>
            <a:r>
              <a:rPr lang="en-US" dirty="0"/>
              <a:t>But the separation of data means that the information we need may be spread over several tables</a:t>
            </a:r>
            <a:endParaRPr lang="en-US" b="1" i="1" dirty="0"/>
          </a:p>
        </p:txBody>
      </p:sp>
      <p:sp>
        <p:nvSpPr>
          <p:cNvPr id="5" name="TextBox 4">
            <a:extLst>
              <a:ext uri="{FF2B5EF4-FFF2-40B4-BE49-F238E27FC236}">
                <a16:creationId xmlns:a16="http://schemas.microsoft.com/office/drawing/2014/main" id="{344E682A-506C-7768-1CB1-1E925EA233FD}"/>
              </a:ext>
            </a:extLst>
          </p:cNvPr>
          <p:cNvSpPr txBox="1"/>
          <p:nvPr/>
        </p:nvSpPr>
        <p:spPr>
          <a:xfrm>
            <a:off x="690465" y="5262465"/>
            <a:ext cx="2332653" cy="1200329"/>
          </a:xfrm>
          <a:prstGeom prst="rect">
            <a:avLst/>
          </a:prstGeom>
          <a:noFill/>
        </p:spPr>
        <p:txBody>
          <a:bodyPr wrap="square" rtlCol="0">
            <a:spAutoFit/>
          </a:bodyPr>
          <a:lstStyle/>
          <a:p>
            <a:r>
              <a:rPr lang="en-US" dirty="0"/>
              <a:t>We’ll see this table again, there is a lot of info here- arrows indicate </a:t>
            </a:r>
            <a:r>
              <a:rPr lang="en-US" i="1" dirty="0"/>
              <a:t>relationships</a:t>
            </a:r>
          </a:p>
        </p:txBody>
      </p:sp>
      <p:sp>
        <p:nvSpPr>
          <p:cNvPr id="2" name="TextBox 1">
            <a:extLst>
              <a:ext uri="{FF2B5EF4-FFF2-40B4-BE49-F238E27FC236}">
                <a16:creationId xmlns:a16="http://schemas.microsoft.com/office/drawing/2014/main" id="{B49F65BF-D48E-B328-0057-FFE172296030}"/>
              </a:ext>
            </a:extLst>
          </p:cNvPr>
          <p:cNvSpPr txBox="1"/>
          <p:nvPr/>
        </p:nvSpPr>
        <p:spPr>
          <a:xfrm>
            <a:off x="690465" y="695794"/>
            <a:ext cx="11206066" cy="338554"/>
          </a:xfrm>
          <a:prstGeom prst="rect">
            <a:avLst/>
          </a:prstGeom>
          <a:noFill/>
        </p:spPr>
        <p:txBody>
          <a:bodyPr wrap="square" rtlCol="0">
            <a:spAutoFit/>
          </a:bodyPr>
          <a:lstStyle/>
          <a:p>
            <a:r>
              <a:rPr lang="en-US" sz="1600" dirty="0">
                <a:solidFill>
                  <a:srgbClr val="FF0000"/>
                </a:solidFill>
              </a:rPr>
              <a:t>Note: This is the </a:t>
            </a:r>
            <a:r>
              <a:rPr lang="en-US" sz="1600" dirty="0" err="1">
                <a:solidFill>
                  <a:srgbClr val="FF0000"/>
                </a:solidFill>
              </a:rPr>
              <a:t>Sqlite</a:t>
            </a:r>
            <a:r>
              <a:rPr lang="en-US" sz="1600" dirty="0">
                <a:solidFill>
                  <a:srgbClr val="FF0000"/>
                </a:solidFill>
              </a:rPr>
              <a:t> version of chinook, names differ slightly from the Postgres version,  mostly in capitalization</a:t>
            </a:r>
          </a:p>
        </p:txBody>
      </p:sp>
    </p:spTree>
    <p:extLst>
      <p:ext uri="{BB962C8B-B14F-4D97-AF65-F5344CB8AC3E}">
        <p14:creationId xmlns:p14="http://schemas.microsoft.com/office/powerpoint/2010/main" val="3077556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5E3ECB-052A-5D6A-D47C-AE591085C2C9}"/>
              </a:ext>
            </a:extLst>
          </p:cNvPr>
          <p:cNvSpPr txBox="1"/>
          <p:nvPr/>
        </p:nvSpPr>
        <p:spPr>
          <a:xfrm>
            <a:off x="755780" y="531845"/>
            <a:ext cx="10655559" cy="4247317"/>
          </a:xfrm>
          <a:prstGeom prst="rect">
            <a:avLst/>
          </a:prstGeom>
          <a:noFill/>
        </p:spPr>
        <p:txBody>
          <a:bodyPr wrap="square" rtlCol="0">
            <a:spAutoFit/>
          </a:bodyPr>
          <a:lstStyle/>
          <a:p>
            <a:r>
              <a:rPr lang="en-US" b="1" dirty="0"/>
              <a:t>Why separate data so much?</a:t>
            </a:r>
          </a:p>
          <a:p>
            <a:endParaRPr lang="en-US" dirty="0"/>
          </a:p>
          <a:p>
            <a:r>
              <a:rPr lang="en-US" dirty="0"/>
              <a:t>-Avoiding conflicting information.   We might have an error in the Album name, that might occur in one track but  </a:t>
            </a:r>
          </a:p>
          <a:p>
            <a:r>
              <a:rPr lang="en-US" dirty="0"/>
              <a:t>       not others.   If we tried to create a list of all our albums that would cause an error.</a:t>
            </a:r>
          </a:p>
          <a:p>
            <a:endParaRPr lang="en-US" dirty="0"/>
          </a:p>
          <a:p>
            <a:r>
              <a:rPr lang="en-US" dirty="0"/>
              <a:t>-Maintenance- if we wanted to fix that typo,  we would have to go through all the tracks and check them if the  </a:t>
            </a:r>
          </a:p>
          <a:p>
            <a:r>
              <a:rPr lang="en-US" dirty="0"/>
              <a:t>       album name was stored with each track.</a:t>
            </a:r>
          </a:p>
          <a:p>
            <a:endParaRPr lang="en-US" dirty="0"/>
          </a:p>
          <a:p>
            <a:r>
              <a:rPr lang="en-US" dirty="0"/>
              <a:t>When we start talking about database design and using </a:t>
            </a:r>
            <a:r>
              <a:rPr lang="en-US" i="1" dirty="0"/>
              <a:t>normal forms</a:t>
            </a:r>
            <a:r>
              <a:rPr lang="en-US" dirty="0"/>
              <a:t>, we will talk more about how this works.</a:t>
            </a:r>
          </a:p>
          <a:p>
            <a:endParaRPr lang="en-US" dirty="0"/>
          </a:p>
          <a:p>
            <a:r>
              <a:rPr lang="en-US" dirty="0"/>
              <a:t>We will often need to </a:t>
            </a:r>
            <a:r>
              <a:rPr lang="en-US" b="1" dirty="0"/>
              <a:t>Join</a:t>
            </a:r>
            <a:r>
              <a:rPr lang="en-US" dirty="0"/>
              <a:t> data tables together to combine information from multiple tables, to answer various questions we have.</a:t>
            </a:r>
          </a:p>
          <a:p>
            <a:endParaRPr lang="en-US" dirty="0"/>
          </a:p>
          <a:p>
            <a:r>
              <a:rPr lang="en-US" dirty="0"/>
              <a:t>There are 4 different types of </a:t>
            </a:r>
            <a:r>
              <a:rPr lang="en-US" b="1" dirty="0"/>
              <a:t>Joins </a:t>
            </a:r>
            <a:r>
              <a:rPr lang="en-US" dirty="0"/>
              <a:t>plus some other operations to combine data tables.</a:t>
            </a:r>
          </a:p>
          <a:p>
            <a:endParaRPr lang="en-US" b="1" dirty="0"/>
          </a:p>
        </p:txBody>
      </p:sp>
    </p:spTree>
    <p:extLst>
      <p:ext uri="{BB962C8B-B14F-4D97-AF65-F5344CB8AC3E}">
        <p14:creationId xmlns:p14="http://schemas.microsoft.com/office/powerpoint/2010/main" val="4016499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7819E5-44FA-9741-7588-34F20EE516B7}"/>
              </a:ext>
            </a:extLst>
          </p:cNvPr>
          <p:cNvSpPr txBox="1"/>
          <p:nvPr/>
        </p:nvSpPr>
        <p:spPr>
          <a:xfrm>
            <a:off x="410547" y="335902"/>
            <a:ext cx="11467322" cy="6709529"/>
          </a:xfrm>
          <a:prstGeom prst="rect">
            <a:avLst/>
          </a:prstGeom>
          <a:noFill/>
        </p:spPr>
        <p:txBody>
          <a:bodyPr wrap="square" rtlCol="0">
            <a:spAutoFit/>
          </a:bodyPr>
          <a:lstStyle/>
          <a:p>
            <a:r>
              <a:rPr lang="en-US" sz="1600" b="1" dirty="0"/>
              <a:t>Joins</a:t>
            </a:r>
            <a:r>
              <a:rPr lang="en-US" sz="1600" dirty="0"/>
              <a:t> </a:t>
            </a:r>
          </a:p>
          <a:p>
            <a:endParaRPr lang="en-US" sz="1600" dirty="0"/>
          </a:p>
          <a:p>
            <a:r>
              <a:rPr lang="en-US" sz="1600" dirty="0"/>
              <a:t>Joins are always between two data tables,  the first is called the Left table and the second is the Right table</a:t>
            </a:r>
          </a:p>
          <a:p>
            <a:endParaRPr lang="en-US" sz="1600" dirty="0"/>
          </a:p>
          <a:p>
            <a:r>
              <a:rPr lang="en-US" sz="1600" dirty="0"/>
              <a:t>If we need to join 3 tables (A, B,C)   we join A+ B  and then (A+B)+C.   Not a big deal</a:t>
            </a:r>
          </a:p>
          <a:p>
            <a:endParaRPr lang="en-US" sz="1600" dirty="0"/>
          </a:p>
          <a:p>
            <a:r>
              <a:rPr lang="en-US" sz="1600" dirty="0"/>
              <a:t>Databases are joined by selecting values from both tables when the rows have matching values in the specified join variables.   This will become easier to understand when we look at some examples</a:t>
            </a:r>
          </a:p>
          <a:p>
            <a:endParaRPr lang="en-US" sz="1600" dirty="0"/>
          </a:p>
          <a:p>
            <a:r>
              <a:rPr lang="en-US" sz="1600" dirty="0"/>
              <a:t>There are  many types of joins, the main 5 are</a:t>
            </a:r>
          </a:p>
          <a:p>
            <a:endParaRPr lang="en-US" sz="1600" dirty="0"/>
          </a:p>
          <a:p>
            <a:r>
              <a:rPr lang="en-US" sz="1600" b="1" dirty="0"/>
              <a:t>Inner</a:t>
            </a:r>
            <a:r>
              <a:rPr lang="en-US" sz="1600" dirty="0"/>
              <a:t>-  select rows where the join condition is true for both Left and Right tables.  If either Left or Right is missing, drop </a:t>
            </a:r>
          </a:p>
          <a:p>
            <a:r>
              <a:rPr lang="en-US" sz="1600" dirty="0"/>
              <a:t>            the row.  </a:t>
            </a:r>
          </a:p>
          <a:p>
            <a:endParaRPr lang="en-US" sz="1600" dirty="0"/>
          </a:p>
          <a:p>
            <a:r>
              <a:rPr lang="en-US" sz="1600" b="1" dirty="0"/>
              <a:t>Left join- </a:t>
            </a:r>
            <a:r>
              <a:rPr lang="en-US" sz="1600" dirty="0"/>
              <a:t>for each join condition in the left table, show the row,   using the right values or NULL as needed.   If the row  </a:t>
            </a:r>
          </a:p>
          <a:p>
            <a:r>
              <a:rPr lang="en-US" sz="1600" dirty="0"/>
              <a:t>            exists in Left, but not Right, add in Nulls.   Each row in the Left table will appear in the Join</a:t>
            </a:r>
          </a:p>
          <a:p>
            <a:endParaRPr lang="en-US" sz="1600" dirty="0"/>
          </a:p>
          <a:p>
            <a:r>
              <a:rPr lang="en-US" sz="1600" b="1" dirty="0"/>
              <a:t>Right join</a:t>
            </a:r>
            <a:r>
              <a:rPr lang="en-US" sz="1600" dirty="0"/>
              <a:t>-The mirror image of a left join- for each join condition in the right table, show the row,   using the left values or  </a:t>
            </a:r>
          </a:p>
          <a:p>
            <a:r>
              <a:rPr lang="en-US" sz="1600" dirty="0"/>
              <a:t>           NULL as needed.   If the row  exists in Right, but not Left, add in Nulls.   Each row in the Right table will appear in   </a:t>
            </a:r>
          </a:p>
          <a:p>
            <a:r>
              <a:rPr lang="en-US" sz="1600" dirty="0"/>
              <a:t>           the Join</a:t>
            </a:r>
          </a:p>
          <a:p>
            <a:endParaRPr lang="en-US" sz="1600" dirty="0"/>
          </a:p>
          <a:p>
            <a:r>
              <a:rPr lang="en-US" sz="1600" b="1" dirty="0"/>
              <a:t>Full Outer Join- </a:t>
            </a:r>
            <a:r>
              <a:rPr lang="en-US" sz="1600" dirty="0"/>
              <a:t>Return all rows in both Right and Left,  joined when possible and filled with NULLs otherwise</a:t>
            </a:r>
          </a:p>
          <a:p>
            <a:endParaRPr lang="en-US" sz="1600" dirty="0"/>
          </a:p>
          <a:p>
            <a:r>
              <a:rPr lang="en-US" sz="1600" b="1" dirty="0"/>
              <a:t>Cross Join- </a:t>
            </a:r>
            <a:r>
              <a:rPr lang="en-US" sz="1600" dirty="0"/>
              <a:t>For each row in the Left,  add each row in the Right,   so the size is the product of the size of the two.  Seldom   </a:t>
            </a:r>
          </a:p>
          <a:p>
            <a:r>
              <a:rPr lang="en-US" sz="1600" dirty="0"/>
              <a:t>           used!</a:t>
            </a:r>
          </a:p>
          <a:p>
            <a:endParaRPr lang="en-US" sz="1600" dirty="0"/>
          </a:p>
        </p:txBody>
      </p:sp>
    </p:spTree>
    <p:extLst>
      <p:ext uri="{BB962C8B-B14F-4D97-AF65-F5344CB8AC3E}">
        <p14:creationId xmlns:p14="http://schemas.microsoft.com/office/powerpoint/2010/main" val="1050295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D95C685-6639-49E7-DBD3-A06FB8F6D626}"/>
              </a:ext>
            </a:extLst>
          </p:cNvPr>
          <p:cNvPicPr>
            <a:picLocks noChangeAspect="1"/>
          </p:cNvPicPr>
          <p:nvPr/>
        </p:nvPicPr>
        <p:blipFill>
          <a:blip r:embed="rId2"/>
          <a:stretch>
            <a:fillRect/>
          </a:stretch>
        </p:blipFill>
        <p:spPr>
          <a:xfrm>
            <a:off x="798065" y="2248678"/>
            <a:ext cx="5458196" cy="3329760"/>
          </a:xfrm>
          <a:prstGeom prst="rect">
            <a:avLst/>
          </a:prstGeom>
        </p:spPr>
      </p:pic>
      <p:sp>
        <p:nvSpPr>
          <p:cNvPr id="3" name="TextBox 2">
            <a:extLst>
              <a:ext uri="{FF2B5EF4-FFF2-40B4-BE49-F238E27FC236}">
                <a16:creationId xmlns:a16="http://schemas.microsoft.com/office/drawing/2014/main" id="{C8C78C8D-A596-759A-84B7-A7FC397C3545}"/>
              </a:ext>
            </a:extLst>
          </p:cNvPr>
          <p:cNvSpPr txBox="1"/>
          <p:nvPr/>
        </p:nvSpPr>
        <p:spPr>
          <a:xfrm>
            <a:off x="1254868" y="311285"/>
            <a:ext cx="8190689" cy="1200329"/>
          </a:xfrm>
          <a:prstGeom prst="rect">
            <a:avLst/>
          </a:prstGeom>
          <a:noFill/>
        </p:spPr>
        <p:txBody>
          <a:bodyPr wrap="square" rtlCol="0">
            <a:spAutoFit/>
          </a:bodyPr>
          <a:lstStyle/>
          <a:p>
            <a:r>
              <a:rPr lang="en-US" b="1" dirty="0"/>
              <a:t>Inner Join Example</a:t>
            </a:r>
          </a:p>
          <a:p>
            <a:endParaRPr lang="en-US" dirty="0"/>
          </a:p>
          <a:p>
            <a:r>
              <a:rPr lang="en-US" dirty="0"/>
              <a:t>A is the Left,  B is the Right,  we are showing an inner join on the Join Condition (</a:t>
            </a:r>
            <a:r>
              <a:rPr lang="en-US" dirty="0" err="1"/>
              <a:t>B.f</a:t>
            </a:r>
            <a:r>
              <a:rPr lang="en-US" dirty="0"/>
              <a:t>=</a:t>
            </a:r>
            <a:r>
              <a:rPr lang="en-US" dirty="0" err="1"/>
              <a:t>A.f</a:t>
            </a:r>
            <a:r>
              <a:rPr lang="en-US" dirty="0"/>
              <a:t>),     where </a:t>
            </a:r>
            <a:r>
              <a:rPr lang="en-US" dirty="0" err="1"/>
              <a:t>A.f</a:t>
            </a:r>
            <a:r>
              <a:rPr lang="en-US" dirty="0"/>
              <a:t> means column f in table A</a:t>
            </a:r>
          </a:p>
        </p:txBody>
      </p:sp>
      <p:sp>
        <p:nvSpPr>
          <p:cNvPr id="4" name="TextBox 3">
            <a:extLst>
              <a:ext uri="{FF2B5EF4-FFF2-40B4-BE49-F238E27FC236}">
                <a16:creationId xmlns:a16="http://schemas.microsoft.com/office/drawing/2014/main" id="{DFA5050A-5C0B-4415-0AD0-3B23CDECF297}"/>
              </a:ext>
            </a:extLst>
          </p:cNvPr>
          <p:cNvSpPr txBox="1"/>
          <p:nvPr/>
        </p:nvSpPr>
        <p:spPr>
          <a:xfrm>
            <a:off x="7080607" y="6064898"/>
            <a:ext cx="4980764" cy="369332"/>
          </a:xfrm>
          <a:prstGeom prst="rect">
            <a:avLst/>
          </a:prstGeom>
          <a:noFill/>
        </p:spPr>
        <p:txBody>
          <a:bodyPr wrap="square" rtlCol="0">
            <a:spAutoFit/>
          </a:bodyPr>
          <a:lstStyle/>
          <a:p>
            <a:r>
              <a:rPr lang="en-US" dirty="0"/>
              <a:t>https://www.sqlitetutorial.net/sqlite-inner-join/</a:t>
            </a:r>
          </a:p>
        </p:txBody>
      </p:sp>
      <p:pic>
        <p:nvPicPr>
          <p:cNvPr id="5" name="Picture 4">
            <a:extLst>
              <a:ext uri="{FF2B5EF4-FFF2-40B4-BE49-F238E27FC236}">
                <a16:creationId xmlns:a16="http://schemas.microsoft.com/office/drawing/2014/main" id="{C74EAE27-8339-82C2-86AA-0E449BDBE897}"/>
              </a:ext>
            </a:extLst>
          </p:cNvPr>
          <p:cNvPicPr>
            <a:picLocks noChangeAspect="1"/>
          </p:cNvPicPr>
          <p:nvPr/>
        </p:nvPicPr>
        <p:blipFill>
          <a:blip r:embed="rId3"/>
          <a:stretch>
            <a:fillRect/>
          </a:stretch>
        </p:blipFill>
        <p:spPr>
          <a:xfrm>
            <a:off x="8062329" y="1789483"/>
            <a:ext cx="2524125" cy="2124075"/>
          </a:xfrm>
          <a:prstGeom prst="rect">
            <a:avLst/>
          </a:prstGeom>
        </p:spPr>
      </p:pic>
      <p:sp>
        <p:nvSpPr>
          <p:cNvPr id="6" name="TextBox 5">
            <a:extLst>
              <a:ext uri="{FF2B5EF4-FFF2-40B4-BE49-F238E27FC236}">
                <a16:creationId xmlns:a16="http://schemas.microsoft.com/office/drawing/2014/main" id="{53A3CDCD-A33B-E2B1-D99A-204DC2F9D1AA}"/>
              </a:ext>
            </a:extLst>
          </p:cNvPr>
          <p:cNvSpPr txBox="1"/>
          <p:nvPr/>
        </p:nvSpPr>
        <p:spPr>
          <a:xfrm>
            <a:off x="7912359" y="4180114"/>
            <a:ext cx="3349690" cy="1200329"/>
          </a:xfrm>
          <a:prstGeom prst="rect">
            <a:avLst/>
          </a:prstGeom>
          <a:noFill/>
        </p:spPr>
        <p:txBody>
          <a:bodyPr wrap="square" rtlCol="0">
            <a:spAutoFit/>
          </a:bodyPr>
          <a:lstStyle/>
          <a:p>
            <a:r>
              <a:rPr lang="en-US" dirty="0"/>
              <a:t>The Venn diagram shows the condition for the row to show up in the join, specific </a:t>
            </a:r>
            <a:r>
              <a:rPr lang="en-US" dirty="0" err="1"/>
              <a:t>A.f</a:t>
            </a:r>
            <a:r>
              <a:rPr lang="en-US" dirty="0"/>
              <a:t> and </a:t>
            </a:r>
            <a:r>
              <a:rPr lang="en-US" dirty="0" err="1"/>
              <a:t>B.f</a:t>
            </a:r>
            <a:r>
              <a:rPr lang="en-US" dirty="0"/>
              <a:t> values must be in both tables</a:t>
            </a:r>
          </a:p>
        </p:txBody>
      </p:sp>
    </p:spTree>
    <p:extLst>
      <p:ext uri="{BB962C8B-B14F-4D97-AF65-F5344CB8AC3E}">
        <p14:creationId xmlns:p14="http://schemas.microsoft.com/office/powerpoint/2010/main" val="385598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8FC23C-A77E-4E0B-4312-F5A4DF28104A}"/>
              </a:ext>
            </a:extLst>
          </p:cNvPr>
          <p:cNvSpPr txBox="1"/>
          <p:nvPr/>
        </p:nvSpPr>
        <p:spPr>
          <a:xfrm>
            <a:off x="473529" y="311030"/>
            <a:ext cx="6097554" cy="2031325"/>
          </a:xfrm>
          <a:prstGeom prst="rect">
            <a:avLst/>
          </a:prstGeom>
          <a:noFill/>
        </p:spPr>
        <p:txBody>
          <a:bodyPr wrap="square">
            <a:spAutoFit/>
          </a:bodyPr>
          <a:lstStyle/>
          <a:p>
            <a:r>
              <a:rPr lang="en-US" dirty="0">
                <a:effectLst/>
              </a:rPr>
              <a:t>Example Inner Join, chinook database</a:t>
            </a:r>
          </a:p>
          <a:p>
            <a:endParaRPr lang="en-US" dirty="0"/>
          </a:p>
          <a:p>
            <a:r>
              <a:rPr lang="en-US" dirty="0">
                <a:effectLst/>
              </a:rPr>
              <a:t>SELECT </a:t>
            </a:r>
            <a:r>
              <a:rPr lang="en-US" dirty="0" err="1">
                <a:effectLst/>
              </a:rPr>
              <a:t>Name,Title</a:t>
            </a:r>
            <a:r>
              <a:rPr lang="en-US" dirty="0">
                <a:effectLst/>
              </a:rPr>
              <a:t> FROM</a:t>
            </a:r>
          </a:p>
          <a:p>
            <a:r>
              <a:rPr lang="en-US" dirty="0">
                <a:effectLst/>
              </a:rPr>
              <a:t>tracks</a:t>
            </a:r>
          </a:p>
          <a:p>
            <a:r>
              <a:rPr lang="en-US" dirty="0">
                <a:effectLst/>
              </a:rPr>
              <a:t>INNER JOIN albums on </a:t>
            </a:r>
            <a:r>
              <a:rPr lang="en-US" dirty="0" err="1">
                <a:effectLst/>
              </a:rPr>
              <a:t>tracks.Albumid</a:t>
            </a:r>
            <a:r>
              <a:rPr lang="en-US" dirty="0">
                <a:effectLst/>
              </a:rPr>
              <a:t>=</a:t>
            </a:r>
            <a:r>
              <a:rPr lang="en-US" dirty="0" err="1">
                <a:effectLst/>
              </a:rPr>
              <a:t>albums.AlbumId</a:t>
            </a:r>
            <a:endParaRPr lang="en-US" dirty="0">
              <a:effectLst/>
            </a:endParaRPr>
          </a:p>
          <a:p>
            <a:r>
              <a:rPr lang="en-US" dirty="0">
                <a:effectLst/>
              </a:rPr>
              <a:t>ORDER BY Name</a:t>
            </a:r>
          </a:p>
          <a:p>
            <a:r>
              <a:rPr lang="en-US" dirty="0">
                <a:effectLst/>
              </a:rPr>
              <a:t>LIMIT 10;</a:t>
            </a:r>
          </a:p>
        </p:txBody>
      </p:sp>
      <p:pic>
        <p:nvPicPr>
          <p:cNvPr id="9" name="Picture 8">
            <a:extLst>
              <a:ext uri="{FF2B5EF4-FFF2-40B4-BE49-F238E27FC236}">
                <a16:creationId xmlns:a16="http://schemas.microsoft.com/office/drawing/2014/main" id="{C4745C6B-7AE2-C4D5-E9EA-76F38AB30725}"/>
              </a:ext>
            </a:extLst>
          </p:cNvPr>
          <p:cNvPicPr>
            <a:picLocks noChangeAspect="1"/>
          </p:cNvPicPr>
          <p:nvPr/>
        </p:nvPicPr>
        <p:blipFill>
          <a:blip r:embed="rId2"/>
          <a:stretch>
            <a:fillRect/>
          </a:stretch>
        </p:blipFill>
        <p:spPr>
          <a:xfrm>
            <a:off x="527080" y="2485156"/>
            <a:ext cx="6677957" cy="2276793"/>
          </a:xfrm>
          <a:prstGeom prst="rect">
            <a:avLst/>
          </a:prstGeom>
        </p:spPr>
      </p:pic>
      <p:sp>
        <p:nvSpPr>
          <p:cNvPr id="10" name="TextBox 9">
            <a:extLst>
              <a:ext uri="{FF2B5EF4-FFF2-40B4-BE49-F238E27FC236}">
                <a16:creationId xmlns:a16="http://schemas.microsoft.com/office/drawing/2014/main" id="{7315403A-CDF2-0EC3-9B3C-98D78987B080}"/>
              </a:ext>
            </a:extLst>
          </p:cNvPr>
          <p:cNvSpPr txBox="1"/>
          <p:nvPr/>
        </p:nvSpPr>
        <p:spPr>
          <a:xfrm>
            <a:off x="7850221" y="661481"/>
            <a:ext cx="3618690" cy="2308324"/>
          </a:xfrm>
          <a:prstGeom prst="rect">
            <a:avLst/>
          </a:prstGeom>
          <a:noFill/>
        </p:spPr>
        <p:txBody>
          <a:bodyPr wrap="square" rtlCol="0">
            <a:spAutoFit/>
          </a:bodyPr>
          <a:lstStyle/>
          <a:p>
            <a:r>
              <a:rPr lang="en-US" dirty="0"/>
              <a:t>I ordered these by the Name of the track,  and limited it to the first ten tracks</a:t>
            </a:r>
          </a:p>
          <a:p>
            <a:endParaRPr lang="en-US" dirty="0"/>
          </a:p>
          <a:p>
            <a:r>
              <a:rPr lang="en-US" dirty="0"/>
              <a:t>If this isn’t ordered by track, the first 10 are all from the same album, making it hard to see what is happening</a:t>
            </a:r>
          </a:p>
        </p:txBody>
      </p:sp>
      <p:sp>
        <p:nvSpPr>
          <p:cNvPr id="11" name="TextBox 10">
            <a:extLst>
              <a:ext uri="{FF2B5EF4-FFF2-40B4-BE49-F238E27FC236}">
                <a16:creationId xmlns:a16="http://schemas.microsoft.com/office/drawing/2014/main" id="{934A333A-E926-8988-0486-BBA8575A54F7}"/>
              </a:ext>
            </a:extLst>
          </p:cNvPr>
          <p:cNvSpPr txBox="1"/>
          <p:nvPr/>
        </p:nvSpPr>
        <p:spPr>
          <a:xfrm>
            <a:off x="527080" y="5155660"/>
            <a:ext cx="10406809" cy="923330"/>
          </a:xfrm>
          <a:prstGeom prst="rect">
            <a:avLst/>
          </a:prstGeom>
          <a:noFill/>
        </p:spPr>
        <p:txBody>
          <a:bodyPr wrap="square" rtlCol="0">
            <a:spAutoFit/>
          </a:bodyPr>
          <a:lstStyle/>
          <a:p>
            <a:r>
              <a:rPr lang="en-US" dirty="0"/>
              <a:t>We would use this if we want all information possible from the two databases.   </a:t>
            </a:r>
          </a:p>
          <a:p>
            <a:endParaRPr lang="en-US" dirty="0"/>
          </a:p>
          <a:p>
            <a:r>
              <a:rPr lang="en-US" dirty="0"/>
              <a:t>Knowing where the NULLS appear might help find missing entries.</a:t>
            </a:r>
          </a:p>
        </p:txBody>
      </p:sp>
      <p:sp>
        <p:nvSpPr>
          <p:cNvPr id="2" name="TextBox 1">
            <a:extLst>
              <a:ext uri="{FF2B5EF4-FFF2-40B4-BE49-F238E27FC236}">
                <a16:creationId xmlns:a16="http://schemas.microsoft.com/office/drawing/2014/main" id="{0AF6D987-2F0D-BADA-61DC-18D6BD8295F7}"/>
              </a:ext>
            </a:extLst>
          </p:cNvPr>
          <p:cNvSpPr txBox="1"/>
          <p:nvPr/>
        </p:nvSpPr>
        <p:spPr>
          <a:xfrm>
            <a:off x="8383509" y="5269117"/>
            <a:ext cx="3186820" cy="1200329"/>
          </a:xfrm>
          <a:prstGeom prst="rect">
            <a:avLst/>
          </a:prstGeom>
          <a:noFill/>
        </p:spPr>
        <p:txBody>
          <a:bodyPr wrap="square" rtlCol="0">
            <a:spAutoFit/>
          </a:bodyPr>
          <a:lstStyle/>
          <a:p>
            <a:r>
              <a:rPr lang="en-US" i="1" dirty="0">
                <a:solidFill>
                  <a:srgbClr val="FF0000"/>
                </a:solidFill>
              </a:rPr>
              <a:t>Note difference in the capitalization of names from the </a:t>
            </a:r>
            <a:r>
              <a:rPr lang="en-US" i="1" dirty="0" err="1">
                <a:solidFill>
                  <a:srgbClr val="FF0000"/>
                </a:solidFill>
              </a:rPr>
              <a:t>postgres</a:t>
            </a:r>
            <a:r>
              <a:rPr lang="en-US" i="1" dirty="0">
                <a:solidFill>
                  <a:srgbClr val="FF0000"/>
                </a:solidFill>
              </a:rPr>
              <a:t> version,  this is the </a:t>
            </a:r>
            <a:r>
              <a:rPr lang="en-US" i="1" dirty="0" err="1">
                <a:solidFill>
                  <a:srgbClr val="FF0000"/>
                </a:solidFill>
              </a:rPr>
              <a:t>Sqlite</a:t>
            </a:r>
            <a:r>
              <a:rPr lang="en-US" i="1" dirty="0">
                <a:solidFill>
                  <a:srgbClr val="FF0000"/>
                </a:solidFill>
              </a:rPr>
              <a:t> version</a:t>
            </a:r>
          </a:p>
        </p:txBody>
      </p:sp>
    </p:spTree>
    <p:extLst>
      <p:ext uri="{BB962C8B-B14F-4D97-AF65-F5344CB8AC3E}">
        <p14:creationId xmlns:p14="http://schemas.microsoft.com/office/powerpoint/2010/main" val="2186843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92F1DF-2639-57A8-138E-0310B26813E7}"/>
              </a:ext>
            </a:extLst>
          </p:cNvPr>
          <p:cNvPicPr>
            <a:picLocks noChangeAspect="1"/>
          </p:cNvPicPr>
          <p:nvPr/>
        </p:nvPicPr>
        <p:blipFill>
          <a:blip r:embed="rId2"/>
          <a:stretch>
            <a:fillRect/>
          </a:stretch>
        </p:blipFill>
        <p:spPr>
          <a:xfrm>
            <a:off x="1025155" y="2305150"/>
            <a:ext cx="3981450" cy="2714625"/>
          </a:xfrm>
          <a:prstGeom prst="rect">
            <a:avLst/>
          </a:prstGeom>
        </p:spPr>
      </p:pic>
      <p:pic>
        <p:nvPicPr>
          <p:cNvPr id="4" name="Picture 3">
            <a:extLst>
              <a:ext uri="{FF2B5EF4-FFF2-40B4-BE49-F238E27FC236}">
                <a16:creationId xmlns:a16="http://schemas.microsoft.com/office/drawing/2014/main" id="{04AE6913-44F9-1B68-E326-EDE4288766F4}"/>
              </a:ext>
            </a:extLst>
          </p:cNvPr>
          <p:cNvPicPr>
            <a:picLocks noChangeAspect="1"/>
          </p:cNvPicPr>
          <p:nvPr/>
        </p:nvPicPr>
        <p:blipFill>
          <a:blip r:embed="rId3"/>
          <a:stretch>
            <a:fillRect/>
          </a:stretch>
        </p:blipFill>
        <p:spPr>
          <a:xfrm>
            <a:off x="7185397" y="2677450"/>
            <a:ext cx="2853549" cy="1970023"/>
          </a:xfrm>
          <a:prstGeom prst="rect">
            <a:avLst/>
          </a:prstGeom>
        </p:spPr>
      </p:pic>
      <p:sp>
        <p:nvSpPr>
          <p:cNvPr id="5" name="TextBox 4">
            <a:extLst>
              <a:ext uri="{FF2B5EF4-FFF2-40B4-BE49-F238E27FC236}">
                <a16:creationId xmlns:a16="http://schemas.microsoft.com/office/drawing/2014/main" id="{C0CBD8E3-2DEF-07FF-9703-946A3F329425}"/>
              </a:ext>
            </a:extLst>
          </p:cNvPr>
          <p:cNvSpPr txBox="1"/>
          <p:nvPr/>
        </p:nvSpPr>
        <p:spPr>
          <a:xfrm>
            <a:off x="1025155" y="428017"/>
            <a:ext cx="9188888" cy="369332"/>
          </a:xfrm>
          <a:prstGeom prst="rect">
            <a:avLst/>
          </a:prstGeom>
          <a:noFill/>
        </p:spPr>
        <p:txBody>
          <a:bodyPr wrap="square" rtlCol="0">
            <a:spAutoFit/>
          </a:bodyPr>
          <a:lstStyle/>
          <a:p>
            <a:r>
              <a:rPr lang="en-US" dirty="0"/>
              <a:t>LEFT JOIN	  example from the SQLite tutorial- </a:t>
            </a:r>
          </a:p>
        </p:txBody>
      </p:sp>
      <p:sp>
        <p:nvSpPr>
          <p:cNvPr id="6" name="TextBox 5">
            <a:extLst>
              <a:ext uri="{FF2B5EF4-FFF2-40B4-BE49-F238E27FC236}">
                <a16:creationId xmlns:a16="http://schemas.microsoft.com/office/drawing/2014/main" id="{9597B86C-7695-ACD6-46DB-8E342D0679B2}"/>
              </a:ext>
            </a:extLst>
          </p:cNvPr>
          <p:cNvSpPr txBox="1"/>
          <p:nvPr/>
        </p:nvSpPr>
        <p:spPr>
          <a:xfrm>
            <a:off x="573932" y="5185146"/>
            <a:ext cx="4105072" cy="1200329"/>
          </a:xfrm>
          <a:prstGeom prst="rect">
            <a:avLst/>
          </a:prstGeom>
          <a:noFill/>
        </p:spPr>
        <p:txBody>
          <a:bodyPr wrap="square" rtlCol="0">
            <a:spAutoFit/>
          </a:bodyPr>
          <a:lstStyle/>
          <a:p>
            <a:r>
              <a:rPr lang="en-US" dirty="0"/>
              <a:t>All rows in A appear in the join, note that</a:t>
            </a:r>
          </a:p>
          <a:p>
            <a:r>
              <a:rPr lang="en-US" dirty="0"/>
              <a:t>One row has a null for data missing in B, and there is one row n B (</a:t>
            </a:r>
            <a:r>
              <a:rPr lang="en-US" dirty="0" err="1"/>
              <a:t>B.f</a:t>
            </a:r>
            <a:r>
              <a:rPr lang="en-US" dirty="0"/>
              <a:t>=5) that doesn’t appear in the join</a:t>
            </a:r>
          </a:p>
        </p:txBody>
      </p:sp>
      <p:sp>
        <p:nvSpPr>
          <p:cNvPr id="7" name="TextBox 6">
            <a:extLst>
              <a:ext uri="{FF2B5EF4-FFF2-40B4-BE49-F238E27FC236}">
                <a16:creationId xmlns:a16="http://schemas.microsoft.com/office/drawing/2014/main" id="{2223F914-5ACE-1EB7-5B73-C3E18FC926A9}"/>
              </a:ext>
            </a:extLst>
          </p:cNvPr>
          <p:cNvSpPr txBox="1"/>
          <p:nvPr/>
        </p:nvSpPr>
        <p:spPr>
          <a:xfrm>
            <a:off x="6488349" y="5185146"/>
            <a:ext cx="4669277" cy="1200329"/>
          </a:xfrm>
          <a:prstGeom prst="rect">
            <a:avLst/>
          </a:prstGeom>
          <a:noFill/>
        </p:spPr>
        <p:txBody>
          <a:bodyPr wrap="square" rtlCol="0">
            <a:spAutoFit/>
          </a:bodyPr>
          <a:lstStyle/>
          <a:p>
            <a:r>
              <a:rPr lang="en-US" dirty="0"/>
              <a:t>Here’s the Venn diagram for the condition for rows to appear in the Left Join,  you have to be in A and you can be in B, but elements only in B do not appear.    </a:t>
            </a:r>
          </a:p>
        </p:txBody>
      </p:sp>
      <p:sp>
        <p:nvSpPr>
          <p:cNvPr id="2" name="TextBox 1">
            <a:extLst>
              <a:ext uri="{FF2B5EF4-FFF2-40B4-BE49-F238E27FC236}">
                <a16:creationId xmlns:a16="http://schemas.microsoft.com/office/drawing/2014/main" id="{A8C735CB-A959-549A-0886-E7C359962B40}"/>
              </a:ext>
            </a:extLst>
          </p:cNvPr>
          <p:cNvSpPr txBox="1"/>
          <p:nvPr/>
        </p:nvSpPr>
        <p:spPr>
          <a:xfrm>
            <a:off x="6858000" y="2677450"/>
            <a:ext cx="327397" cy="369332"/>
          </a:xfrm>
          <a:prstGeom prst="rect">
            <a:avLst/>
          </a:prstGeom>
          <a:noFill/>
        </p:spPr>
        <p:txBody>
          <a:bodyPr wrap="square" rtlCol="0">
            <a:spAutoFit/>
          </a:bodyPr>
          <a:lstStyle/>
          <a:p>
            <a:r>
              <a:rPr lang="en-US" dirty="0"/>
              <a:t>A</a:t>
            </a:r>
          </a:p>
        </p:txBody>
      </p:sp>
      <p:sp>
        <p:nvSpPr>
          <p:cNvPr id="8" name="TextBox 7">
            <a:extLst>
              <a:ext uri="{FF2B5EF4-FFF2-40B4-BE49-F238E27FC236}">
                <a16:creationId xmlns:a16="http://schemas.microsoft.com/office/drawing/2014/main" id="{745F079C-0E59-5EAF-C4B1-95C7E351D27B}"/>
              </a:ext>
            </a:extLst>
          </p:cNvPr>
          <p:cNvSpPr txBox="1"/>
          <p:nvPr/>
        </p:nvSpPr>
        <p:spPr>
          <a:xfrm>
            <a:off x="9782175" y="2686975"/>
            <a:ext cx="327397" cy="369332"/>
          </a:xfrm>
          <a:prstGeom prst="rect">
            <a:avLst/>
          </a:prstGeom>
          <a:noFill/>
        </p:spPr>
        <p:txBody>
          <a:bodyPr wrap="square" rtlCol="0">
            <a:spAutoFit/>
          </a:bodyPr>
          <a:lstStyle/>
          <a:p>
            <a:r>
              <a:rPr lang="en-US" dirty="0"/>
              <a:t>B</a:t>
            </a:r>
          </a:p>
        </p:txBody>
      </p:sp>
    </p:spTree>
    <p:extLst>
      <p:ext uri="{BB962C8B-B14F-4D97-AF65-F5344CB8AC3E}">
        <p14:creationId xmlns:p14="http://schemas.microsoft.com/office/powerpoint/2010/main" val="1188562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53181-B8F0-ADED-0F10-8951C164657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E1B156A-A22E-EB13-99B3-E705B14AE393}"/>
              </a:ext>
            </a:extLst>
          </p:cNvPr>
          <p:cNvPicPr>
            <a:picLocks noChangeAspect="1"/>
          </p:cNvPicPr>
          <p:nvPr/>
        </p:nvPicPr>
        <p:blipFill>
          <a:blip r:embed="rId2"/>
          <a:stretch>
            <a:fillRect/>
          </a:stretch>
        </p:blipFill>
        <p:spPr>
          <a:xfrm>
            <a:off x="1025155" y="2305150"/>
            <a:ext cx="3981450" cy="2714625"/>
          </a:xfrm>
          <a:prstGeom prst="rect">
            <a:avLst/>
          </a:prstGeom>
        </p:spPr>
      </p:pic>
      <p:sp>
        <p:nvSpPr>
          <p:cNvPr id="5" name="TextBox 4">
            <a:extLst>
              <a:ext uri="{FF2B5EF4-FFF2-40B4-BE49-F238E27FC236}">
                <a16:creationId xmlns:a16="http://schemas.microsoft.com/office/drawing/2014/main" id="{B11B5B9C-3BE6-52D3-5466-579491884B51}"/>
              </a:ext>
            </a:extLst>
          </p:cNvPr>
          <p:cNvSpPr txBox="1"/>
          <p:nvPr/>
        </p:nvSpPr>
        <p:spPr>
          <a:xfrm>
            <a:off x="1025155" y="428017"/>
            <a:ext cx="9188888" cy="369332"/>
          </a:xfrm>
          <a:prstGeom prst="rect">
            <a:avLst/>
          </a:prstGeom>
          <a:noFill/>
        </p:spPr>
        <p:txBody>
          <a:bodyPr wrap="square" rtlCol="0">
            <a:spAutoFit/>
          </a:bodyPr>
          <a:lstStyle/>
          <a:p>
            <a:r>
              <a:rPr lang="en-US" dirty="0"/>
              <a:t>Right JOIN	  example</a:t>
            </a:r>
          </a:p>
        </p:txBody>
      </p:sp>
      <p:sp>
        <p:nvSpPr>
          <p:cNvPr id="6" name="TextBox 5">
            <a:extLst>
              <a:ext uri="{FF2B5EF4-FFF2-40B4-BE49-F238E27FC236}">
                <a16:creationId xmlns:a16="http://schemas.microsoft.com/office/drawing/2014/main" id="{2C36C94A-A604-7791-9509-00A5FE3D1D17}"/>
              </a:ext>
            </a:extLst>
          </p:cNvPr>
          <p:cNvSpPr txBox="1"/>
          <p:nvPr/>
        </p:nvSpPr>
        <p:spPr>
          <a:xfrm>
            <a:off x="573932" y="5185146"/>
            <a:ext cx="4105072" cy="1200329"/>
          </a:xfrm>
          <a:prstGeom prst="rect">
            <a:avLst/>
          </a:prstGeom>
          <a:noFill/>
        </p:spPr>
        <p:txBody>
          <a:bodyPr wrap="square" rtlCol="0">
            <a:spAutoFit/>
          </a:bodyPr>
          <a:lstStyle/>
          <a:p>
            <a:r>
              <a:rPr lang="en-US" dirty="0"/>
              <a:t>All rows in B appear in the join, note that</a:t>
            </a:r>
          </a:p>
          <a:p>
            <a:r>
              <a:rPr lang="en-US" dirty="0"/>
              <a:t>One row has a null for data missing in A (</a:t>
            </a:r>
            <a:r>
              <a:rPr lang="en-US" dirty="0" err="1"/>
              <a:t>B.f</a:t>
            </a:r>
            <a:r>
              <a:rPr lang="en-US" dirty="0"/>
              <a:t>=5) , and there is one row in A (</a:t>
            </a:r>
            <a:r>
              <a:rPr lang="en-US" dirty="0" err="1"/>
              <a:t>A.f</a:t>
            </a:r>
            <a:r>
              <a:rPr lang="en-US" dirty="0"/>
              <a:t>=3) that doesn’t appear in the join</a:t>
            </a:r>
          </a:p>
        </p:txBody>
      </p:sp>
      <p:sp>
        <p:nvSpPr>
          <p:cNvPr id="7" name="TextBox 6">
            <a:extLst>
              <a:ext uri="{FF2B5EF4-FFF2-40B4-BE49-F238E27FC236}">
                <a16:creationId xmlns:a16="http://schemas.microsoft.com/office/drawing/2014/main" id="{BF62C3E7-1DCE-4B48-09E1-417FF9DD3DAB}"/>
              </a:ext>
            </a:extLst>
          </p:cNvPr>
          <p:cNvSpPr txBox="1"/>
          <p:nvPr/>
        </p:nvSpPr>
        <p:spPr>
          <a:xfrm>
            <a:off x="6488349" y="5185146"/>
            <a:ext cx="4669277" cy="1200329"/>
          </a:xfrm>
          <a:prstGeom prst="rect">
            <a:avLst/>
          </a:prstGeom>
          <a:noFill/>
        </p:spPr>
        <p:txBody>
          <a:bodyPr wrap="square" rtlCol="0">
            <a:spAutoFit/>
          </a:bodyPr>
          <a:lstStyle/>
          <a:p>
            <a:r>
              <a:rPr lang="en-US" dirty="0"/>
              <a:t>Here’s the Venn diagram for the condition for rows to appear in the Right Join,  you have to be in B and you can be in A, but elements only in A do not appear.    </a:t>
            </a:r>
          </a:p>
        </p:txBody>
      </p:sp>
      <p:sp>
        <p:nvSpPr>
          <p:cNvPr id="2" name="Oval 1">
            <a:extLst>
              <a:ext uri="{FF2B5EF4-FFF2-40B4-BE49-F238E27FC236}">
                <a16:creationId xmlns:a16="http://schemas.microsoft.com/office/drawing/2014/main" id="{46D2FDF7-1A21-2177-8CA2-DF56EF82C534}"/>
              </a:ext>
            </a:extLst>
          </p:cNvPr>
          <p:cNvSpPr/>
          <p:nvPr/>
        </p:nvSpPr>
        <p:spPr>
          <a:xfrm>
            <a:off x="7991475" y="1948900"/>
            <a:ext cx="1952625" cy="1970023"/>
          </a:xfrm>
          <a:prstGeom prst="ellipse">
            <a:avLst/>
          </a:prstGeom>
          <a:solidFill>
            <a:schemeClr val="accent4">
              <a:lumMod val="60000"/>
              <a:lumOff val="40000"/>
            </a:schemeClr>
          </a:solidFill>
          <a:ln w="412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640E9BB-1704-B013-2FAE-203D9CDC4F25}"/>
              </a:ext>
            </a:extLst>
          </p:cNvPr>
          <p:cNvSpPr/>
          <p:nvPr/>
        </p:nvSpPr>
        <p:spPr>
          <a:xfrm>
            <a:off x="7238849" y="1954377"/>
            <a:ext cx="1952625" cy="1970023"/>
          </a:xfrm>
          <a:prstGeom prst="ellipse">
            <a:avLst/>
          </a:prstGeom>
          <a:noFill/>
          <a:ln w="41275">
            <a:solidFill>
              <a:schemeClr val="accent1">
                <a:shade val="15000"/>
                <a:alpha val="6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C6AF220-94D8-D3C8-BD98-BA0572BFC876}"/>
              </a:ext>
            </a:extLst>
          </p:cNvPr>
          <p:cNvSpPr txBox="1"/>
          <p:nvPr/>
        </p:nvSpPr>
        <p:spPr>
          <a:xfrm>
            <a:off x="7439025" y="2664949"/>
            <a:ext cx="361950" cy="369332"/>
          </a:xfrm>
          <a:prstGeom prst="rect">
            <a:avLst/>
          </a:prstGeom>
          <a:noFill/>
        </p:spPr>
        <p:txBody>
          <a:bodyPr wrap="square" rtlCol="0">
            <a:spAutoFit/>
          </a:bodyPr>
          <a:lstStyle/>
          <a:p>
            <a:r>
              <a:rPr lang="en-US" dirty="0"/>
              <a:t>2</a:t>
            </a:r>
          </a:p>
        </p:txBody>
      </p:sp>
      <p:sp>
        <p:nvSpPr>
          <p:cNvPr id="10" name="TextBox 9">
            <a:extLst>
              <a:ext uri="{FF2B5EF4-FFF2-40B4-BE49-F238E27FC236}">
                <a16:creationId xmlns:a16="http://schemas.microsoft.com/office/drawing/2014/main" id="{39DA3FEB-17D8-64CD-BC22-F95A76F4AAB4}"/>
              </a:ext>
            </a:extLst>
          </p:cNvPr>
          <p:cNvSpPr txBox="1"/>
          <p:nvPr/>
        </p:nvSpPr>
        <p:spPr>
          <a:xfrm>
            <a:off x="8346737" y="2658292"/>
            <a:ext cx="482938" cy="369332"/>
          </a:xfrm>
          <a:prstGeom prst="rect">
            <a:avLst/>
          </a:prstGeom>
          <a:noFill/>
        </p:spPr>
        <p:txBody>
          <a:bodyPr wrap="square" rtlCol="0">
            <a:spAutoFit/>
          </a:bodyPr>
          <a:lstStyle/>
          <a:p>
            <a:r>
              <a:rPr lang="en-US" dirty="0"/>
              <a:t>1 3</a:t>
            </a:r>
          </a:p>
        </p:txBody>
      </p:sp>
      <p:sp>
        <p:nvSpPr>
          <p:cNvPr id="11" name="TextBox 10">
            <a:extLst>
              <a:ext uri="{FF2B5EF4-FFF2-40B4-BE49-F238E27FC236}">
                <a16:creationId xmlns:a16="http://schemas.microsoft.com/office/drawing/2014/main" id="{3999C34A-25D8-B91D-7EBE-F9C0DA8CC0E7}"/>
              </a:ext>
            </a:extLst>
          </p:cNvPr>
          <p:cNvSpPr txBox="1"/>
          <p:nvPr/>
        </p:nvSpPr>
        <p:spPr>
          <a:xfrm>
            <a:off x="9381974" y="2658292"/>
            <a:ext cx="361950" cy="369332"/>
          </a:xfrm>
          <a:prstGeom prst="rect">
            <a:avLst/>
          </a:prstGeom>
          <a:noFill/>
        </p:spPr>
        <p:txBody>
          <a:bodyPr wrap="square" rtlCol="0">
            <a:spAutoFit/>
          </a:bodyPr>
          <a:lstStyle/>
          <a:p>
            <a:r>
              <a:rPr lang="en-US" dirty="0"/>
              <a:t>5</a:t>
            </a:r>
          </a:p>
        </p:txBody>
      </p:sp>
      <p:sp>
        <p:nvSpPr>
          <p:cNvPr id="12" name="TextBox 11">
            <a:extLst>
              <a:ext uri="{FF2B5EF4-FFF2-40B4-BE49-F238E27FC236}">
                <a16:creationId xmlns:a16="http://schemas.microsoft.com/office/drawing/2014/main" id="{D2C492D0-1E65-E153-0B0E-43E0CF20829E}"/>
              </a:ext>
            </a:extLst>
          </p:cNvPr>
          <p:cNvSpPr txBox="1"/>
          <p:nvPr/>
        </p:nvSpPr>
        <p:spPr>
          <a:xfrm>
            <a:off x="7196062" y="1780083"/>
            <a:ext cx="419100" cy="377647"/>
          </a:xfrm>
          <a:prstGeom prst="rect">
            <a:avLst/>
          </a:prstGeom>
          <a:noFill/>
        </p:spPr>
        <p:txBody>
          <a:bodyPr wrap="square" rtlCol="0">
            <a:spAutoFit/>
          </a:bodyPr>
          <a:lstStyle/>
          <a:p>
            <a:r>
              <a:rPr lang="en-US" dirty="0"/>
              <a:t>A</a:t>
            </a:r>
          </a:p>
        </p:txBody>
      </p:sp>
      <p:sp>
        <p:nvSpPr>
          <p:cNvPr id="13" name="TextBox 12">
            <a:extLst>
              <a:ext uri="{FF2B5EF4-FFF2-40B4-BE49-F238E27FC236}">
                <a16:creationId xmlns:a16="http://schemas.microsoft.com/office/drawing/2014/main" id="{BC7AA142-F9EB-96C2-15C8-F2AF043F753E}"/>
              </a:ext>
            </a:extLst>
          </p:cNvPr>
          <p:cNvSpPr txBox="1"/>
          <p:nvPr/>
        </p:nvSpPr>
        <p:spPr>
          <a:xfrm>
            <a:off x="9596362" y="1780083"/>
            <a:ext cx="419100" cy="377647"/>
          </a:xfrm>
          <a:prstGeom prst="rect">
            <a:avLst/>
          </a:prstGeom>
          <a:noFill/>
        </p:spPr>
        <p:txBody>
          <a:bodyPr wrap="square" rtlCol="0">
            <a:spAutoFit/>
          </a:bodyPr>
          <a:lstStyle/>
          <a:p>
            <a:r>
              <a:rPr lang="en-US" dirty="0"/>
              <a:t>B</a:t>
            </a:r>
          </a:p>
        </p:txBody>
      </p:sp>
    </p:spTree>
    <p:extLst>
      <p:ext uri="{BB962C8B-B14F-4D97-AF65-F5344CB8AC3E}">
        <p14:creationId xmlns:p14="http://schemas.microsoft.com/office/powerpoint/2010/main" val="914108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60F937-8364-5542-B3B1-1C0B15306704}"/>
              </a:ext>
            </a:extLst>
          </p:cNvPr>
          <p:cNvSpPr txBox="1"/>
          <p:nvPr/>
        </p:nvSpPr>
        <p:spPr>
          <a:xfrm>
            <a:off x="437744" y="1129287"/>
            <a:ext cx="11079805" cy="1477328"/>
          </a:xfrm>
          <a:prstGeom prst="rect">
            <a:avLst/>
          </a:prstGeom>
          <a:noFill/>
        </p:spPr>
        <p:txBody>
          <a:bodyPr wrap="square">
            <a:spAutoFit/>
          </a:bodyPr>
          <a:lstStyle/>
          <a:p>
            <a:r>
              <a:rPr lang="en-US" dirty="0">
                <a:effectLst/>
              </a:rPr>
              <a:t>SELECT </a:t>
            </a:r>
            <a:r>
              <a:rPr lang="en-US" dirty="0" err="1">
                <a:effectLst/>
              </a:rPr>
              <a:t>customers.LastName</a:t>
            </a:r>
            <a:r>
              <a:rPr lang="en-US" dirty="0">
                <a:effectLst/>
              </a:rPr>
              <a:t>, </a:t>
            </a:r>
            <a:r>
              <a:rPr lang="en-US" dirty="0" err="1">
                <a:effectLst/>
              </a:rPr>
              <a:t>employees.LastName</a:t>
            </a:r>
            <a:r>
              <a:rPr lang="en-US" dirty="0">
                <a:effectLst/>
              </a:rPr>
              <a:t> AS Representative FROM</a:t>
            </a:r>
          </a:p>
          <a:p>
            <a:r>
              <a:rPr lang="en-US" dirty="0">
                <a:effectLst/>
              </a:rPr>
              <a:t>customers</a:t>
            </a:r>
          </a:p>
          <a:p>
            <a:r>
              <a:rPr lang="en-US" dirty="0">
                <a:effectLst/>
              </a:rPr>
              <a:t>LEFT JOIN employees on </a:t>
            </a:r>
            <a:r>
              <a:rPr lang="en-US" dirty="0" err="1">
                <a:effectLst/>
              </a:rPr>
              <a:t>customers.SupportRepID</a:t>
            </a:r>
            <a:r>
              <a:rPr lang="en-US" dirty="0">
                <a:effectLst/>
              </a:rPr>
              <a:t> =</a:t>
            </a:r>
            <a:r>
              <a:rPr lang="en-US" dirty="0" err="1">
                <a:effectLst/>
              </a:rPr>
              <a:t>employees.EmployeeId</a:t>
            </a:r>
            <a:endParaRPr lang="en-US" dirty="0">
              <a:effectLst/>
            </a:endParaRPr>
          </a:p>
          <a:p>
            <a:r>
              <a:rPr lang="en-US" dirty="0">
                <a:effectLst/>
              </a:rPr>
              <a:t>ORDER BY </a:t>
            </a:r>
            <a:r>
              <a:rPr lang="en-US" dirty="0" err="1">
                <a:effectLst/>
              </a:rPr>
              <a:t>customers.LastName</a:t>
            </a:r>
            <a:endParaRPr lang="en-US" dirty="0">
              <a:effectLst/>
            </a:endParaRPr>
          </a:p>
          <a:p>
            <a:r>
              <a:rPr lang="en-US" dirty="0">
                <a:effectLst/>
              </a:rPr>
              <a:t>LIMIT 10;</a:t>
            </a:r>
            <a:endParaRPr lang="en-US" dirty="0"/>
          </a:p>
        </p:txBody>
      </p:sp>
      <p:sp>
        <p:nvSpPr>
          <p:cNvPr id="4" name="TextBox 3">
            <a:extLst>
              <a:ext uri="{FF2B5EF4-FFF2-40B4-BE49-F238E27FC236}">
                <a16:creationId xmlns:a16="http://schemas.microsoft.com/office/drawing/2014/main" id="{86548AB7-AEF3-021D-43B4-29A91B2501F1}"/>
              </a:ext>
            </a:extLst>
          </p:cNvPr>
          <p:cNvSpPr txBox="1"/>
          <p:nvPr/>
        </p:nvSpPr>
        <p:spPr>
          <a:xfrm>
            <a:off x="466928" y="233464"/>
            <a:ext cx="7431932" cy="369332"/>
          </a:xfrm>
          <a:prstGeom prst="rect">
            <a:avLst/>
          </a:prstGeom>
          <a:noFill/>
        </p:spPr>
        <p:txBody>
          <a:bodyPr wrap="square" rtlCol="0">
            <a:spAutoFit/>
          </a:bodyPr>
          <a:lstStyle/>
          <a:p>
            <a:r>
              <a:rPr lang="en-US" b="1" dirty="0"/>
              <a:t>Left Join </a:t>
            </a:r>
            <a:r>
              <a:rPr lang="en-US" dirty="0"/>
              <a:t>– a list of customers with their service representatives</a:t>
            </a:r>
          </a:p>
        </p:txBody>
      </p:sp>
      <p:pic>
        <p:nvPicPr>
          <p:cNvPr id="6" name="Picture 5">
            <a:extLst>
              <a:ext uri="{FF2B5EF4-FFF2-40B4-BE49-F238E27FC236}">
                <a16:creationId xmlns:a16="http://schemas.microsoft.com/office/drawing/2014/main" id="{F18BBA92-62CD-E236-79E3-A63EFA8D992A}"/>
              </a:ext>
            </a:extLst>
          </p:cNvPr>
          <p:cNvPicPr>
            <a:picLocks noChangeAspect="1"/>
          </p:cNvPicPr>
          <p:nvPr/>
        </p:nvPicPr>
        <p:blipFill>
          <a:blip r:embed="rId2"/>
          <a:stretch>
            <a:fillRect/>
          </a:stretch>
        </p:blipFill>
        <p:spPr>
          <a:xfrm>
            <a:off x="466928" y="2766856"/>
            <a:ext cx="3062629" cy="3562958"/>
          </a:xfrm>
          <a:prstGeom prst="rect">
            <a:avLst/>
          </a:prstGeom>
        </p:spPr>
      </p:pic>
      <p:sp>
        <p:nvSpPr>
          <p:cNvPr id="7" name="TextBox 6">
            <a:extLst>
              <a:ext uri="{FF2B5EF4-FFF2-40B4-BE49-F238E27FC236}">
                <a16:creationId xmlns:a16="http://schemas.microsoft.com/office/drawing/2014/main" id="{2A452E48-A067-CBCA-C3D9-7657394EAF3D}"/>
              </a:ext>
            </a:extLst>
          </p:cNvPr>
          <p:cNvSpPr txBox="1"/>
          <p:nvPr/>
        </p:nvSpPr>
        <p:spPr>
          <a:xfrm>
            <a:off x="6698974" y="2703443"/>
            <a:ext cx="4909930" cy="2308324"/>
          </a:xfrm>
          <a:prstGeom prst="rect">
            <a:avLst/>
          </a:prstGeom>
          <a:noFill/>
        </p:spPr>
        <p:txBody>
          <a:bodyPr wrap="square" rtlCol="0">
            <a:spAutoFit/>
          </a:bodyPr>
          <a:lstStyle/>
          <a:p>
            <a:r>
              <a:rPr lang="en-US" dirty="0"/>
              <a:t>I used a Left join, because I don’t carry about employees who don’t represent customers, so not all employees appear on this list, but all customers do</a:t>
            </a:r>
          </a:p>
          <a:p>
            <a:endParaRPr lang="en-US" dirty="0"/>
          </a:p>
          <a:p>
            <a:r>
              <a:rPr lang="en-US" dirty="0"/>
              <a:t>Notice that I used the AS operation in SQL to rename </a:t>
            </a:r>
            <a:r>
              <a:rPr lang="en-US" dirty="0" err="1"/>
              <a:t>employees.LastName</a:t>
            </a:r>
            <a:r>
              <a:rPr lang="en-US" dirty="0"/>
              <a:t> AS “Representative”, this makes the result easier to read</a:t>
            </a:r>
          </a:p>
        </p:txBody>
      </p:sp>
    </p:spTree>
    <p:extLst>
      <p:ext uri="{BB962C8B-B14F-4D97-AF65-F5344CB8AC3E}">
        <p14:creationId xmlns:p14="http://schemas.microsoft.com/office/powerpoint/2010/main" val="744133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EEBB2D7-162E-FC01-12CD-3E1575F6576D}"/>
              </a:ext>
            </a:extLst>
          </p:cNvPr>
          <p:cNvPicPr>
            <a:picLocks noChangeAspect="1"/>
          </p:cNvPicPr>
          <p:nvPr/>
        </p:nvPicPr>
        <p:blipFill>
          <a:blip r:embed="rId2"/>
          <a:stretch>
            <a:fillRect/>
          </a:stretch>
        </p:blipFill>
        <p:spPr>
          <a:xfrm>
            <a:off x="8070613" y="2643187"/>
            <a:ext cx="2276475" cy="1571625"/>
          </a:xfrm>
          <a:prstGeom prst="rect">
            <a:avLst/>
          </a:prstGeom>
        </p:spPr>
      </p:pic>
      <p:pic>
        <p:nvPicPr>
          <p:cNvPr id="3" name="Picture 2">
            <a:extLst>
              <a:ext uri="{FF2B5EF4-FFF2-40B4-BE49-F238E27FC236}">
                <a16:creationId xmlns:a16="http://schemas.microsoft.com/office/drawing/2014/main" id="{12E5A708-6D6A-DD9C-8A66-FB54BBE4679F}"/>
              </a:ext>
            </a:extLst>
          </p:cNvPr>
          <p:cNvPicPr>
            <a:picLocks noChangeAspect="1"/>
          </p:cNvPicPr>
          <p:nvPr/>
        </p:nvPicPr>
        <p:blipFill>
          <a:blip r:embed="rId3"/>
          <a:stretch>
            <a:fillRect/>
          </a:stretch>
        </p:blipFill>
        <p:spPr>
          <a:xfrm>
            <a:off x="1294189" y="2412990"/>
            <a:ext cx="3981033" cy="2712955"/>
          </a:xfrm>
          <a:prstGeom prst="rect">
            <a:avLst/>
          </a:prstGeom>
        </p:spPr>
      </p:pic>
      <p:pic>
        <p:nvPicPr>
          <p:cNvPr id="4" name="Picture 3">
            <a:extLst>
              <a:ext uri="{FF2B5EF4-FFF2-40B4-BE49-F238E27FC236}">
                <a16:creationId xmlns:a16="http://schemas.microsoft.com/office/drawing/2014/main" id="{EBB18F09-3B3B-8A48-D363-351625C60130}"/>
              </a:ext>
            </a:extLst>
          </p:cNvPr>
          <p:cNvPicPr>
            <a:picLocks noChangeAspect="1"/>
          </p:cNvPicPr>
          <p:nvPr/>
        </p:nvPicPr>
        <p:blipFill>
          <a:blip r:embed="rId4"/>
          <a:stretch>
            <a:fillRect/>
          </a:stretch>
        </p:blipFill>
        <p:spPr>
          <a:xfrm>
            <a:off x="1692283" y="3954901"/>
            <a:ext cx="3184843" cy="1259124"/>
          </a:xfrm>
          <a:prstGeom prst="rect">
            <a:avLst/>
          </a:prstGeom>
          <a:solidFill>
            <a:schemeClr val="bg1"/>
          </a:solidFill>
        </p:spPr>
      </p:pic>
      <p:sp>
        <p:nvSpPr>
          <p:cNvPr id="5" name="TextBox 4">
            <a:extLst>
              <a:ext uri="{FF2B5EF4-FFF2-40B4-BE49-F238E27FC236}">
                <a16:creationId xmlns:a16="http://schemas.microsoft.com/office/drawing/2014/main" id="{228594AC-A2B3-171E-A9FA-B97F5B773DFE}"/>
              </a:ext>
            </a:extLst>
          </p:cNvPr>
          <p:cNvSpPr txBox="1"/>
          <p:nvPr/>
        </p:nvSpPr>
        <p:spPr>
          <a:xfrm>
            <a:off x="1410511" y="311285"/>
            <a:ext cx="7587574" cy="646331"/>
          </a:xfrm>
          <a:prstGeom prst="rect">
            <a:avLst/>
          </a:prstGeom>
          <a:noFill/>
        </p:spPr>
        <p:txBody>
          <a:bodyPr wrap="square" rtlCol="0">
            <a:spAutoFit/>
          </a:bodyPr>
          <a:lstStyle/>
          <a:p>
            <a:r>
              <a:rPr lang="en-US" b="1" dirty="0"/>
              <a:t>Full Outer Join</a:t>
            </a:r>
          </a:p>
          <a:p>
            <a:endParaRPr lang="en-US" b="1" dirty="0"/>
          </a:p>
        </p:txBody>
      </p:sp>
      <p:sp>
        <p:nvSpPr>
          <p:cNvPr id="6" name="TextBox 5">
            <a:extLst>
              <a:ext uri="{FF2B5EF4-FFF2-40B4-BE49-F238E27FC236}">
                <a16:creationId xmlns:a16="http://schemas.microsoft.com/office/drawing/2014/main" id="{99BF59EA-195A-A611-C857-3D878FADCE74}"/>
              </a:ext>
            </a:extLst>
          </p:cNvPr>
          <p:cNvSpPr txBox="1"/>
          <p:nvPr/>
        </p:nvSpPr>
        <p:spPr>
          <a:xfrm>
            <a:off x="7991475" y="4467225"/>
            <a:ext cx="2590800" cy="923330"/>
          </a:xfrm>
          <a:prstGeom prst="rect">
            <a:avLst/>
          </a:prstGeom>
          <a:noFill/>
        </p:spPr>
        <p:txBody>
          <a:bodyPr wrap="square" rtlCol="0">
            <a:spAutoFit/>
          </a:bodyPr>
          <a:lstStyle/>
          <a:p>
            <a:r>
              <a:rPr lang="en-US" dirty="0"/>
              <a:t>All rows in both tables are included in the Full Outer Join</a:t>
            </a:r>
          </a:p>
        </p:txBody>
      </p:sp>
    </p:spTree>
    <p:extLst>
      <p:ext uri="{BB962C8B-B14F-4D97-AF65-F5344CB8AC3E}">
        <p14:creationId xmlns:p14="http://schemas.microsoft.com/office/powerpoint/2010/main" val="726145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5B11E8-17F7-BD02-F525-B9D2529DB86D}"/>
              </a:ext>
            </a:extLst>
          </p:cNvPr>
          <p:cNvSpPr txBox="1"/>
          <p:nvPr/>
        </p:nvSpPr>
        <p:spPr>
          <a:xfrm>
            <a:off x="333968" y="2115567"/>
            <a:ext cx="6097554" cy="3970318"/>
          </a:xfrm>
          <a:prstGeom prst="rect">
            <a:avLst/>
          </a:prstGeom>
          <a:noFill/>
        </p:spPr>
        <p:txBody>
          <a:bodyPr wrap="square">
            <a:spAutoFit/>
          </a:bodyPr>
          <a:lstStyle/>
          <a:p>
            <a:r>
              <a:rPr lang="en-US" dirty="0"/>
              <a:t>CREATE TABLE ranks (</a:t>
            </a:r>
          </a:p>
          <a:p>
            <a:r>
              <a:rPr lang="en-US" dirty="0"/>
              <a:t>    rank TEXT NOT NULL</a:t>
            </a:r>
          </a:p>
          <a:p>
            <a:r>
              <a:rPr lang="en-US" dirty="0"/>
              <a:t>);</a:t>
            </a:r>
          </a:p>
          <a:p>
            <a:endParaRPr lang="en-US" dirty="0"/>
          </a:p>
          <a:p>
            <a:r>
              <a:rPr lang="en-US" dirty="0"/>
              <a:t>CREATE TABLE suits (</a:t>
            </a:r>
          </a:p>
          <a:p>
            <a:r>
              <a:rPr lang="en-US" dirty="0"/>
              <a:t>    suit TEXT NOT NULL</a:t>
            </a:r>
          </a:p>
          <a:p>
            <a:r>
              <a:rPr lang="en-US" dirty="0"/>
              <a:t>);</a:t>
            </a:r>
          </a:p>
          <a:p>
            <a:endParaRPr lang="en-US" dirty="0"/>
          </a:p>
          <a:p>
            <a:r>
              <a:rPr lang="en-US" dirty="0"/>
              <a:t>INSERT INTO ranks(rank) </a:t>
            </a:r>
          </a:p>
          <a:p>
            <a:r>
              <a:rPr lang="en-US" dirty="0"/>
              <a:t>VALUES('2'),('3'),('4'),('5'),('6'),('7'),('8'),('9'),('10'),('J'),('Q'),('K'),('A');</a:t>
            </a:r>
          </a:p>
          <a:p>
            <a:endParaRPr lang="en-US" dirty="0"/>
          </a:p>
          <a:p>
            <a:r>
              <a:rPr lang="en-US" dirty="0"/>
              <a:t>INSERT INTO suits(suit) </a:t>
            </a:r>
          </a:p>
          <a:p>
            <a:r>
              <a:rPr lang="en-US" dirty="0"/>
              <a:t>VALUES('Clubs'),('Diamonds'),('Hearts'),('Spades');</a:t>
            </a:r>
          </a:p>
        </p:txBody>
      </p:sp>
      <p:sp>
        <p:nvSpPr>
          <p:cNvPr id="4" name="TextBox 3">
            <a:extLst>
              <a:ext uri="{FF2B5EF4-FFF2-40B4-BE49-F238E27FC236}">
                <a16:creationId xmlns:a16="http://schemas.microsoft.com/office/drawing/2014/main" id="{EA14864F-006C-FABE-5A8E-2D43BFE24278}"/>
              </a:ext>
            </a:extLst>
          </p:cNvPr>
          <p:cNvSpPr txBox="1"/>
          <p:nvPr/>
        </p:nvSpPr>
        <p:spPr>
          <a:xfrm>
            <a:off x="597159" y="186612"/>
            <a:ext cx="8117633" cy="646331"/>
          </a:xfrm>
          <a:prstGeom prst="rect">
            <a:avLst/>
          </a:prstGeom>
          <a:noFill/>
        </p:spPr>
        <p:txBody>
          <a:bodyPr wrap="square" rtlCol="0">
            <a:spAutoFit/>
          </a:bodyPr>
          <a:lstStyle/>
          <a:p>
            <a:r>
              <a:rPr lang="en-US" b="1" dirty="0"/>
              <a:t>Cross Join</a:t>
            </a:r>
          </a:p>
          <a:p>
            <a:r>
              <a:rPr lang="en-US" dirty="0"/>
              <a:t>A quick example based on cards, created in SQLite</a:t>
            </a:r>
          </a:p>
        </p:txBody>
      </p:sp>
      <p:pic>
        <p:nvPicPr>
          <p:cNvPr id="6" name="Picture 5">
            <a:extLst>
              <a:ext uri="{FF2B5EF4-FFF2-40B4-BE49-F238E27FC236}">
                <a16:creationId xmlns:a16="http://schemas.microsoft.com/office/drawing/2014/main" id="{345EF4B1-7FB3-B82B-C022-0179930B29A9}"/>
              </a:ext>
            </a:extLst>
          </p:cNvPr>
          <p:cNvPicPr>
            <a:picLocks noChangeAspect="1"/>
          </p:cNvPicPr>
          <p:nvPr/>
        </p:nvPicPr>
        <p:blipFill>
          <a:blip r:embed="rId2"/>
          <a:stretch>
            <a:fillRect/>
          </a:stretch>
        </p:blipFill>
        <p:spPr>
          <a:xfrm>
            <a:off x="9747115" y="942037"/>
            <a:ext cx="1894118" cy="2347061"/>
          </a:xfrm>
          <a:prstGeom prst="rect">
            <a:avLst/>
          </a:prstGeom>
        </p:spPr>
      </p:pic>
      <p:pic>
        <p:nvPicPr>
          <p:cNvPr id="8" name="Picture 7">
            <a:extLst>
              <a:ext uri="{FF2B5EF4-FFF2-40B4-BE49-F238E27FC236}">
                <a16:creationId xmlns:a16="http://schemas.microsoft.com/office/drawing/2014/main" id="{72991CF8-7024-4645-134C-4AD77C931795}"/>
              </a:ext>
            </a:extLst>
          </p:cNvPr>
          <p:cNvPicPr>
            <a:picLocks noChangeAspect="1"/>
          </p:cNvPicPr>
          <p:nvPr/>
        </p:nvPicPr>
        <p:blipFill>
          <a:blip r:embed="rId3"/>
          <a:stretch>
            <a:fillRect/>
          </a:stretch>
        </p:blipFill>
        <p:spPr>
          <a:xfrm>
            <a:off x="7618154" y="486382"/>
            <a:ext cx="1862911" cy="6069483"/>
          </a:xfrm>
          <a:prstGeom prst="rect">
            <a:avLst/>
          </a:prstGeom>
        </p:spPr>
      </p:pic>
    </p:spTree>
    <p:extLst>
      <p:ext uri="{BB962C8B-B14F-4D97-AF65-F5344CB8AC3E}">
        <p14:creationId xmlns:p14="http://schemas.microsoft.com/office/powerpoint/2010/main" val="2693780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EF000B-4F2D-E940-1660-FA734D38490A}"/>
              </a:ext>
            </a:extLst>
          </p:cNvPr>
          <p:cNvPicPr>
            <a:picLocks noChangeAspect="1"/>
          </p:cNvPicPr>
          <p:nvPr/>
        </p:nvPicPr>
        <p:blipFill>
          <a:blip r:embed="rId2"/>
          <a:stretch>
            <a:fillRect/>
          </a:stretch>
        </p:blipFill>
        <p:spPr>
          <a:xfrm>
            <a:off x="8401142" y="534912"/>
            <a:ext cx="2861718" cy="5257573"/>
          </a:xfrm>
          <a:prstGeom prst="rect">
            <a:avLst/>
          </a:prstGeom>
        </p:spPr>
      </p:pic>
      <p:sp>
        <p:nvSpPr>
          <p:cNvPr id="5" name="TextBox 4">
            <a:extLst>
              <a:ext uri="{FF2B5EF4-FFF2-40B4-BE49-F238E27FC236}">
                <a16:creationId xmlns:a16="http://schemas.microsoft.com/office/drawing/2014/main" id="{E0A9D8AE-FA9B-2409-5A55-15968DB627AE}"/>
              </a:ext>
            </a:extLst>
          </p:cNvPr>
          <p:cNvSpPr txBox="1"/>
          <p:nvPr/>
        </p:nvSpPr>
        <p:spPr>
          <a:xfrm>
            <a:off x="891818" y="1992000"/>
            <a:ext cx="6094378" cy="1477328"/>
          </a:xfrm>
          <a:prstGeom prst="rect">
            <a:avLst/>
          </a:prstGeom>
          <a:noFill/>
        </p:spPr>
        <p:txBody>
          <a:bodyPr wrap="square">
            <a:spAutoFit/>
          </a:bodyPr>
          <a:lstStyle/>
          <a:p>
            <a:r>
              <a:rPr lang="en-US" dirty="0"/>
              <a:t>SELECT </a:t>
            </a:r>
            <a:r>
              <a:rPr lang="en-US" dirty="0" err="1"/>
              <a:t>rank,suit</a:t>
            </a:r>
            <a:endParaRPr lang="en-US" dirty="0"/>
          </a:p>
          <a:p>
            <a:r>
              <a:rPr lang="en-US" dirty="0"/>
              <a:t>  FROM ranks</a:t>
            </a:r>
          </a:p>
          <a:p>
            <a:r>
              <a:rPr lang="en-US" dirty="0"/>
              <a:t>       CROSS JOIN</a:t>
            </a:r>
          </a:p>
          <a:p>
            <a:r>
              <a:rPr lang="en-US" dirty="0"/>
              <a:t>       suits</a:t>
            </a:r>
          </a:p>
          <a:p>
            <a:r>
              <a:rPr lang="en-US" dirty="0"/>
              <a:t>ORDER BY rank;</a:t>
            </a:r>
          </a:p>
        </p:txBody>
      </p:sp>
      <p:sp>
        <p:nvSpPr>
          <p:cNvPr id="6" name="TextBox 5">
            <a:extLst>
              <a:ext uri="{FF2B5EF4-FFF2-40B4-BE49-F238E27FC236}">
                <a16:creationId xmlns:a16="http://schemas.microsoft.com/office/drawing/2014/main" id="{7BAC6AC5-134B-29FF-7CFD-195CC2F45F84}"/>
              </a:ext>
            </a:extLst>
          </p:cNvPr>
          <p:cNvSpPr txBox="1"/>
          <p:nvPr/>
        </p:nvSpPr>
        <p:spPr>
          <a:xfrm>
            <a:off x="475861" y="326571"/>
            <a:ext cx="7585788" cy="1200329"/>
          </a:xfrm>
          <a:prstGeom prst="rect">
            <a:avLst/>
          </a:prstGeom>
          <a:noFill/>
        </p:spPr>
        <p:txBody>
          <a:bodyPr wrap="square" rtlCol="0">
            <a:spAutoFit/>
          </a:bodyPr>
          <a:lstStyle/>
          <a:p>
            <a:r>
              <a:rPr lang="en-US" dirty="0"/>
              <a:t>CROSS TABLE </a:t>
            </a:r>
          </a:p>
          <a:p>
            <a:endParaRPr lang="en-US" dirty="0"/>
          </a:p>
          <a:p>
            <a:r>
              <a:rPr lang="en-US" dirty="0"/>
              <a:t>Output shown for a limited number of values- the cross table shows all possible combinations from the two tables- How could we use this?</a:t>
            </a:r>
          </a:p>
        </p:txBody>
      </p:sp>
    </p:spTree>
    <p:extLst>
      <p:ext uri="{BB962C8B-B14F-4D97-AF65-F5344CB8AC3E}">
        <p14:creationId xmlns:p14="http://schemas.microsoft.com/office/powerpoint/2010/main" val="2370462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536D69-72F7-16DA-3909-F0D24991B76F}"/>
              </a:ext>
            </a:extLst>
          </p:cNvPr>
          <p:cNvSpPr txBox="1"/>
          <p:nvPr/>
        </p:nvSpPr>
        <p:spPr>
          <a:xfrm>
            <a:off x="466928" y="350196"/>
            <a:ext cx="10437778" cy="1477328"/>
          </a:xfrm>
          <a:prstGeom prst="rect">
            <a:avLst/>
          </a:prstGeom>
          <a:noFill/>
        </p:spPr>
        <p:txBody>
          <a:bodyPr wrap="square" rtlCol="0">
            <a:spAutoFit/>
          </a:bodyPr>
          <a:lstStyle/>
          <a:p>
            <a:r>
              <a:rPr lang="en-US" b="1" dirty="0"/>
              <a:t>SELF JOIN</a:t>
            </a:r>
          </a:p>
          <a:p>
            <a:endParaRPr lang="en-US" dirty="0"/>
          </a:p>
          <a:p>
            <a:r>
              <a:rPr lang="en-US" dirty="0"/>
              <a:t>This joins a table to itself.   This is useful when a table has information about relationships between entities in the same table.   An employee table might list who each employee reports to (</a:t>
            </a:r>
            <a:r>
              <a:rPr lang="en-US" dirty="0" err="1"/>
              <a:t>ie</a:t>
            </a:r>
            <a:r>
              <a:rPr lang="en-US" dirty="0"/>
              <a:t> their boss),  or perhaps the names of people’s children or spouse, who might also be in the same table</a:t>
            </a:r>
          </a:p>
        </p:txBody>
      </p:sp>
      <p:sp>
        <p:nvSpPr>
          <p:cNvPr id="4" name="TextBox 3">
            <a:extLst>
              <a:ext uri="{FF2B5EF4-FFF2-40B4-BE49-F238E27FC236}">
                <a16:creationId xmlns:a16="http://schemas.microsoft.com/office/drawing/2014/main" id="{8001F1F2-43ED-EA60-3B36-BC03694642E1}"/>
              </a:ext>
            </a:extLst>
          </p:cNvPr>
          <p:cNvSpPr txBox="1"/>
          <p:nvPr/>
        </p:nvSpPr>
        <p:spPr>
          <a:xfrm>
            <a:off x="576166" y="2253257"/>
            <a:ext cx="6097554" cy="1754326"/>
          </a:xfrm>
          <a:prstGeom prst="rect">
            <a:avLst/>
          </a:prstGeom>
          <a:noFill/>
        </p:spPr>
        <p:txBody>
          <a:bodyPr wrap="square">
            <a:spAutoFit/>
          </a:bodyPr>
          <a:lstStyle/>
          <a:p>
            <a:r>
              <a:rPr lang="en-US" dirty="0"/>
              <a:t>SELECT </a:t>
            </a:r>
            <a:r>
              <a:rPr lang="en-US" dirty="0" err="1"/>
              <a:t>m.lastname</a:t>
            </a:r>
            <a:r>
              <a:rPr lang="en-US" dirty="0"/>
              <a:t> AS 'Manager',</a:t>
            </a:r>
          </a:p>
          <a:p>
            <a:r>
              <a:rPr lang="en-US" dirty="0"/>
              <a:t>       </a:t>
            </a:r>
            <a:r>
              <a:rPr lang="en-US" dirty="0" err="1"/>
              <a:t>e.lastname</a:t>
            </a:r>
            <a:r>
              <a:rPr lang="en-US" dirty="0"/>
              <a:t> AS 'Direct report' </a:t>
            </a:r>
          </a:p>
          <a:p>
            <a:r>
              <a:rPr lang="en-US" dirty="0"/>
              <a:t>FROM employees e</a:t>
            </a:r>
          </a:p>
          <a:p>
            <a:r>
              <a:rPr lang="en-US" dirty="0"/>
              <a:t>INNER JOIN employees m ON </a:t>
            </a:r>
            <a:r>
              <a:rPr lang="en-US" dirty="0" err="1"/>
              <a:t>m.employeeid</a:t>
            </a:r>
            <a:r>
              <a:rPr lang="en-US" dirty="0"/>
              <a:t> = </a:t>
            </a:r>
            <a:r>
              <a:rPr lang="en-US" dirty="0" err="1"/>
              <a:t>e.reportsto</a:t>
            </a:r>
            <a:endParaRPr lang="en-US" dirty="0"/>
          </a:p>
          <a:p>
            <a:r>
              <a:rPr lang="en-US" dirty="0"/>
              <a:t>ORDER BY manager;</a:t>
            </a:r>
          </a:p>
          <a:p>
            <a:r>
              <a:rPr lang="en-US" dirty="0"/>
              <a:t> </a:t>
            </a:r>
          </a:p>
        </p:txBody>
      </p:sp>
      <p:pic>
        <p:nvPicPr>
          <p:cNvPr id="6" name="Picture 5">
            <a:extLst>
              <a:ext uri="{FF2B5EF4-FFF2-40B4-BE49-F238E27FC236}">
                <a16:creationId xmlns:a16="http://schemas.microsoft.com/office/drawing/2014/main" id="{9BDBC66C-E02B-AD20-6D8E-004A21D65A50}"/>
              </a:ext>
            </a:extLst>
          </p:cNvPr>
          <p:cNvPicPr>
            <a:picLocks noChangeAspect="1"/>
          </p:cNvPicPr>
          <p:nvPr/>
        </p:nvPicPr>
        <p:blipFill>
          <a:blip r:embed="rId2"/>
          <a:stretch>
            <a:fillRect/>
          </a:stretch>
        </p:blipFill>
        <p:spPr>
          <a:xfrm>
            <a:off x="576166" y="4007583"/>
            <a:ext cx="2506785" cy="2728906"/>
          </a:xfrm>
          <a:prstGeom prst="rect">
            <a:avLst/>
          </a:prstGeom>
        </p:spPr>
      </p:pic>
      <p:sp>
        <p:nvSpPr>
          <p:cNvPr id="7" name="TextBox 6">
            <a:extLst>
              <a:ext uri="{FF2B5EF4-FFF2-40B4-BE49-F238E27FC236}">
                <a16:creationId xmlns:a16="http://schemas.microsoft.com/office/drawing/2014/main" id="{C0A7687E-3142-2336-46D5-F27E57D2C631}"/>
              </a:ext>
            </a:extLst>
          </p:cNvPr>
          <p:cNvSpPr txBox="1"/>
          <p:nvPr/>
        </p:nvSpPr>
        <p:spPr>
          <a:xfrm>
            <a:off x="7501811" y="2743201"/>
            <a:ext cx="4245429" cy="3416320"/>
          </a:xfrm>
          <a:prstGeom prst="rect">
            <a:avLst/>
          </a:prstGeom>
          <a:noFill/>
        </p:spPr>
        <p:txBody>
          <a:bodyPr wrap="square" rtlCol="0">
            <a:spAutoFit/>
          </a:bodyPr>
          <a:lstStyle/>
          <a:p>
            <a:r>
              <a:rPr lang="en-US" dirty="0"/>
              <a:t>Lots going on here..</a:t>
            </a:r>
          </a:p>
          <a:p>
            <a:endParaRPr lang="en-US" dirty="0"/>
          </a:p>
          <a:p>
            <a:r>
              <a:rPr lang="en-US" dirty="0"/>
              <a:t>We have aliased employees as e </a:t>
            </a:r>
          </a:p>
          <a:p>
            <a:r>
              <a:rPr lang="en-US" dirty="0"/>
              <a:t>And also as m, so two aliases for the same table.</a:t>
            </a:r>
          </a:p>
          <a:p>
            <a:endParaRPr lang="en-US" dirty="0"/>
          </a:p>
          <a:p>
            <a:r>
              <a:rPr lang="en-US" dirty="0"/>
              <a:t>The we select the Inner join of the two and the manager name from m and the employee from e</a:t>
            </a:r>
          </a:p>
          <a:p>
            <a:endParaRPr lang="en-US" dirty="0"/>
          </a:p>
          <a:p>
            <a:r>
              <a:rPr lang="en-US" dirty="0"/>
              <a:t>Slick,   the two alias allow use to treat one table as though it were two</a:t>
            </a:r>
          </a:p>
        </p:txBody>
      </p:sp>
    </p:spTree>
    <p:extLst>
      <p:ext uri="{BB962C8B-B14F-4D97-AF65-F5344CB8AC3E}">
        <p14:creationId xmlns:p14="http://schemas.microsoft.com/office/powerpoint/2010/main" val="1734475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407201-4CBA-51B1-CCCF-52D2EDC36E1C}"/>
              </a:ext>
            </a:extLst>
          </p:cNvPr>
          <p:cNvSpPr txBox="1"/>
          <p:nvPr/>
        </p:nvSpPr>
        <p:spPr>
          <a:xfrm>
            <a:off x="270588" y="214604"/>
            <a:ext cx="9060024" cy="5632311"/>
          </a:xfrm>
          <a:prstGeom prst="rect">
            <a:avLst/>
          </a:prstGeom>
          <a:noFill/>
        </p:spPr>
        <p:txBody>
          <a:bodyPr wrap="square" rtlCol="0">
            <a:spAutoFit/>
          </a:bodyPr>
          <a:lstStyle/>
          <a:p>
            <a:r>
              <a:rPr lang="en-US" b="1" dirty="0"/>
              <a:t>Views</a:t>
            </a:r>
          </a:p>
          <a:p>
            <a:endParaRPr lang="en-US" dirty="0"/>
          </a:p>
          <a:p>
            <a:r>
              <a:rPr lang="en-US" dirty="0"/>
              <a:t>The output of a query is itself a table,  we can save it as a table in fact.</a:t>
            </a:r>
          </a:p>
          <a:p>
            <a:endParaRPr lang="en-US" dirty="0"/>
          </a:p>
          <a:p>
            <a:r>
              <a:rPr lang="en-US" dirty="0"/>
              <a:t>But saving the output of a query as a table for later use has problems</a:t>
            </a:r>
          </a:p>
          <a:p>
            <a:endParaRPr lang="en-US" dirty="0"/>
          </a:p>
          <a:p>
            <a:r>
              <a:rPr lang="en-US" dirty="0"/>
              <a:t>	-it doesn’t change if the underlying data changes</a:t>
            </a:r>
          </a:p>
          <a:p>
            <a:r>
              <a:rPr lang="en-US" dirty="0"/>
              <a:t>	-we know have duplicated information stored and that is no bueno- hard to maintain</a:t>
            </a:r>
          </a:p>
          <a:p>
            <a:endParaRPr lang="en-US" dirty="0"/>
          </a:p>
          <a:p>
            <a:r>
              <a:rPr lang="en-US" dirty="0"/>
              <a:t>Instead we can create a </a:t>
            </a:r>
            <a:r>
              <a:rPr lang="en-US" b="1" i="1" dirty="0"/>
              <a:t>View.    </a:t>
            </a:r>
            <a:r>
              <a:rPr lang="en-US" dirty="0"/>
              <a:t>A view is basically a stored query, we can view it by name and we can even run SELECT queries on it like it was a table.   But the View stores the instructions on how to create it from tables, not the actual values.  That’s a big advantage</a:t>
            </a:r>
          </a:p>
          <a:p>
            <a:endParaRPr lang="en-US" b="1" i="1" dirty="0"/>
          </a:p>
          <a:p>
            <a:r>
              <a:rPr lang="en-US" dirty="0"/>
              <a:t>If we alter data in a table (like employees, say), then if we look at the view again, the view will show the updated data,  pulling it from the table for us.</a:t>
            </a:r>
          </a:p>
          <a:p>
            <a:endParaRPr lang="en-US" dirty="0"/>
          </a:p>
          <a:p>
            <a:r>
              <a:rPr lang="en-US" dirty="0"/>
              <a:t>Views are handy if we will need to run the query again later, or we want to make it accessible to others, or if we have to write a really complex query.</a:t>
            </a:r>
          </a:p>
          <a:p>
            <a:endParaRPr lang="en-US" dirty="0"/>
          </a:p>
          <a:p>
            <a:r>
              <a:rPr lang="en-US" dirty="0"/>
              <a:t>Don’t store a query result as a table!  Ever! Use a View</a:t>
            </a:r>
          </a:p>
        </p:txBody>
      </p:sp>
    </p:spTree>
    <p:extLst>
      <p:ext uri="{BB962C8B-B14F-4D97-AF65-F5344CB8AC3E}">
        <p14:creationId xmlns:p14="http://schemas.microsoft.com/office/powerpoint/2010/main" val="2519486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52DD4DA-0C95-5582-A635-F7BE553370FF}"/>
              </a:ext>
            </a:extLst>
          </p:cNvPr>
          <p:cNvSpPr txBox="1"/>
          <p:nvPr/>
        </p:nvSpPr>
        <p:spPr>
          <a:xfrm>
            <a:off x="447869" y="233265"/>
            <a:ext cx="8388221" cy="3693319"/>
          </a:xfrm>
          <a:prstGeom prst="rect">
            <a:avLst/>
          </a:prstGeom>
          <a:noFill/>
        </p:spPr>
        <p:txBody>
          <a:bodyPr wrap="square" rtlCol="0">
            <a:spAutoFit/>
          </a:bodyPr>
          <a:lstStyle/>
          <a:p>
            <a:r>
              <a:rPr lang="en-US" b="1" dirty="0"/>
              <a:t>View Example</a:t>
            </a:r>
          </a:p>
          <a:p>
            <a:endParaRPr lang="en-US" dirty="0"/>
          </a:p>
          <a:p>
            <a:r>
              <a:rPr lang="en-US" dirty="0"/>
              <a:t>Creating a view of the management roles at chinook</a:t>
            </a:r>
          </a:p>
          <a:p>
            <a:endParaRPr lang="en-US" dirty="0"/>
          </a:p>
          <a:p>
            <a:r>
              <a:rPr lang="en-US" dirty="0">
                <a:effectLst/>
              </a:rPr>
              <a:t>CREATE VIEW </a:t>
            </a:r>
            <a:r>
              <a:rPr lang="en-US" dirty="0" err="1">
                <a:effectLst/>
              </a:rPr>
              <a:t>ManagementRoles</a:t>
            </a:r>
            <a:r>
              <a:rPr lang="en-US" dirty="0">
                <a:effectLst/>
              </a:rPr>
              <a:t> AS</a:t>
            </a:r>
          </a:p>
          <a:p>
            <a:r>
              <a:rPr lang="en-US" dirty="0">
                <a:effectLst/>
              </a:rPr>
              <a:t>SELECT </a:t>
            </a:r>
            <a:r>
              <a:rPr lang="en-US" dirty="0" err="1">
                <a:effectLst/>
              </a:rPr>
              <a:t>m.firstname</a:t>
            </a:r>
            <a:r>
              <a:rPr lang="en-US" dirty="0">
                <a:effectLst/>
              </a:rPr>
              <a:t> || ' ' || </a:t>
            </a:r>
            <a:r>
              <a:rPr lang="en-US" dirty="0" err="1">
                <a:effectLst/>
              </a:rPr>
              <a:t>m.lastname</a:t>
            </a:r>
            <a:r>
              <a:rPr lang="en-US" dirty="0">
                <a:effectLst/>
              </a:rPr>
              <a:t> AS 'Manager',</a:t>
            </a:r>
          </a:p>
          <a:p>
            <a:r>
              <a:rPr lang="en-US" dirty="0" err="1">
                <a:effectLst/>
              </a:rPr>
              <a:t>e.firstname</a:t>
            </a:r>
            <a:r>
              <a:rPr lang="en-US" dirty="0">
                <a:effectLst/>
              </a:rPr>
              <a:t> || ' ' || </a:t>
            </a:r>
            <a:r>
              <a:rPr lang="en-US" dirty="0" err="1">
                <a:effectLst/>
              </a:rPr>
              <a:t>e.lastname</a:t>
            </a:r>
            <a:r>
              <a:rPr lang="en-US" dirty="0">
                <a:effectLst/>
              </a:rPr>
              <a:t> AS 'Direct report' </a:t>
            </a:r>
          </a:p>
          <a:p>
            <a:r>
              <a:rPr lang="en-US" dirty="0">
                <a:effectLst/>
              </a:rPr>
              <a:t>FROM employees e</a:t>
            </a:r>
          </a:p>
          <a:p>
            <a:r>
              <a:rPr lang="en-US" dirty="0">
                <a:effectLst/>
              </a:rPr>
              <a:t>INNER JOIN employees m ON </a:t>
            </a:r>
            <a:r>
              <a:rPr lang="en-US" dirty="0" err="1">
                <a:effectLst/>
              </a:rPr>
              <a:t>m.employeeid</a:t>
            </a:r>
            <a:r>
              <a:rPr lang="en-US" dirty="0">
                <a:effectLst/>
              </a:rPr>
              <a:t> = </a:t>
            </a:r>
            <a:r>
              <a:rPr lang="en-US" dirty="0" err="1">
                <a:effectLst/>
              </a:rPr>
              <a:t>e.reportsto</a:t>
            </a:r>
            <a:endParaRPr lang="en-US" dirty="0">
              <a:effectLst/>
            </a:endParaRPr>
          </a:p>
          <a:p>
            <a:r>
              <a:rPr lang="en-US" dirty="0">
                <a:effectLst/>
              </a:rPr>
              <a:t>ORDER BY manager; </a:t>
            </a:r>
          </a:p>
          <a:p>
            <a:endParaRPr lang="en-US" dirty="0">
              <a:effectLst/>
            </a:endParaRPr>
          </a:p>
          <a:p>
            <a:r>
              <a:rPr lang="en-US" dirty="0">
                <a:effectLst/>
              </a:rPr>
              <a:t>SELECT * FROM </a:t>
            </a:r>
            <a:r>
              <a:rPr lang="en-US" dirty="0" err="1">
                <a:effectLst/>
              </a:rPr>
              <a:t>ManagementRoles</a:t>
            </a:r>
            <a:r>
              <a:rPr lang="en-US" dirty="0">
                <a:effectLst/>
              </a:rPr>
              <a:t>;</a:t>
            </a:r>
            <a:br>
              <a:rPr lang="en-US" dirty="0">
                <a:effectLst/>
              </a:rPr>
            </a:br>
            <a:endParaRPr lang="en-US" dirty="0"/>
          </a:p>
        </p:txBody>
      </p:sp>
      <p:pic>
        <p:nvPicPr>
          <p:cNvPr id="6" name="Picture 5">
            <a:extLst>
              <a:ext uri="{FF2B5EF4-FFF2-40B4-BE49-F238E27FC236}">
                <a16:creationId xmlns:a16="http://schemas.microsoft.com/office/drawing/2014/main" id="{BC040A0E-104E-EB84-DF09-033D20679782}"/>
              </a:ext>
            </a:extLst>
          </p:cNvPr>
          <p:cNvPicPr>
            <a:picLocks noChangeAspect="1"/>
          </p:cNvPicPr>
          <p:nvPr/>
        </p:nvPicPr>
        <p:blipFill>
          <a:blip r:embed="rId2"/>
          <a:stretch>
            <a:fillRect/>
          </a:stretch>
        </p:blipFill>
        <p:spPr>
          <a:xfrm>
            <a:off x="447869" y="3830657"/>
            <a:ext cx="2972140" cy="2496020"/>
          </a:xfrm>
          <a:prstGeom prst="rect">
            <a:avLst/>
          </a:prstGeom>
        </p:spPr>
      </p:pic>
      <p:sp>
        <p:nvSpPr>
          <p:cNvPr id="7" name="TextBox 6">
            <a:extLst>
              <a:ext uri="{FF2B5EF4-FFF2-40B4-BE49-F238E27FC236}">
                <a16:creationId xmlns:a16="http://schemas.microsoft.com/office/drawing/2014/main" id="{BE5A0B8A-CCDB-B93E-5EB7-10D0A5B2F4EC}"/>
              </a:ext>
            </a:extLst>
          </p:cNvPr>
          <p:cNvSpPr txBox="1"/>
          <p:nvPr/>
        </p:nvSpPr>
        <p:spPr>
          <a:xfrm>
            <a:off x="7675123" y="1361872"/>
            <a:ext cx="3210128" cy="923330"/>
          </a:xfrm>
          <a:prstGeom prst="rect">
            <a:avLst/>
          </a:prstGeom>
          <a:noFill/>
        </p:spPr>
        <p:txBody>
          <a:bodyPr wrap="square" rtlCol="0">
            <a:spAutoFit/>
          </a:bodyPr>
          <a:lstStyle/>
          <a:p>
            <a:r>
              <a:rPr lang="en-US" dirty="0"/>
              <a:t>We could ask- who is Robert’s manager?</a:t>
            </a:r>
          </a:p>
          <a:p>
            <a:endParaRPr lang="en-US" dirty="0"/>
          </a:p>
        </p:txBody>
      </p:sp>
      <p:sp>
        <p:nvSpPr>
          <p:cNvPr id="9" name="TextBox 8">
            <a:extLst>
              <a:ext uri="{FF2B5EF4-FFF2-40B4-BE49-F238E27FC236}">
                <a16:creationId xmlns:a16="http://schemas.microsoft.com/office/drawing/2014/main" id="{8965D872-FBB2-EF31-2B02-5D2F445344EA}"/>
              </a:ext>
            </a:extLst>
          </p:cNvPr>
          <p:cNvSpPr txBox="1"/>
          <p:nvPr/>
        </p:nvSpPr>
        <p:spPr>
          <a:xfrm>
            <a:off x="7525883" y="2523824"/>
            <a:ext cx="6094378" cy="646331"/>
          </a:xfrm>
          <a:prstGeom prst="rect">
            <a:avLst/>
          </a:prstGeom>
          <a:noFill/>
        </p:spPr>
        <p:txBody>
          <a:bodyPr wrap="square">
            <a:spAutoFit/>
          </a:bodyPr>
          <a:lstStyle/>
          <a:p>
            <a:r>
              <a:rPr lang="en-US" dirty="0"/>
              <a:t>SELECT * FROM </a:t>
            </a:r>
            <a:r>
              <a:rPr lang="en-US" dirty="0" err="1"/>
              <a:t>ManagementRoles</a:t>
            </a:r>
            <a:endParaRPr lang="en-US" dirty="0"/>
          </a:p>
          <a:p>
            <a:r>
              <a:rPr lang="en-US" dirty="0"/>
              <a:t>    WHERE </a:t>
            </a:r>
            <a:r>
              <a:rPr lang="en-US" dirty="0" err="1"/>
              <a:t>Direct_report</a:t>
            </a:r>
            <a:r>
              <a:rPr lang="en-US" dirty="0"/>
              <a:t> LIKE '%Rob%';</a:t>
            </a:r>
          </a:p>
        </p:txBody>
      </p:sp>
      <p:pic>
        <p:nvPicPr>
          <p:cNvPr id="11" name="Picture 10">
            <a:extLst>
              <a:ext uri="{FF2B5EF4-FFF2-40B4-BE49-F238E27FC236}">
                <a16:creationId xmlns:a16="http://schemas.microsoft.com/office/drawing/2014/main" id="{0913F6FB-5A32-6A03-3FDB-9EEAB9782DAB}"/>
              </a:ext>
            </a:extLst>
          </p:cNvPr>
          <p:cNvPicPr>
            <a:picLocks noChangeAspect="1"/>
          </p:cNvPicPr>
          <p:nvPr/>
        </p:nvPicPr>
        <p:blipFill>
          <a:blip r:embed="rId3"/>
          <a:stretch>
            <a:fillRect/>
          </a:stretch>
        </p:blipFill>
        <p:spPr>
          <a:xfrm>
            <a:off x="7336843" y="3687846"/>
            <a:ext cx="3721176" cy="872151"/>
          </a:xfrm>
          <a:prstGeom prst="rect">
            <a:avLst/>
          </a:prstGeom>
        </p:spPr>
      </p:pic>
      <p:sp>
        <p:nvSpPr>
          <p:cNvPr id="12" name="TextBox 11">
            <a:extLst>
              <a:ext uri="{FF2B5EF4-FFF2-40B4-BE49-F238E27FC236}">
                <a16:creationId xmlns:a16="http://schemas.microsoft.com/office/drawing/2014/main" id="{D3E57FFA-83D8-7EF6-6B5D-E8229D27C102}"/>
              </a:ext>
            </a:extLst>
          </p:cNvPr>
          <p:cNvSpPr txBox="1"/>
          <p:nvPr/>
        </p:nvSpPr>
        <p:spPr>
          <a:xfrm>
            <a:off x="6746925" y="5181303"/>
            <a:ext cx="5066523" cy="923330"/>
          </a:xfrm>
          <a:prstGeom prst="rect">
            <a:avLst/>
          </a:prstGeom>
          <a:noFill/>
        </p:spPr>
        <p:txBody>
          <a:bodyPr wrap="square" rtlCol="0">
            <a:spAutoFit/>
          </a:bodyPr>
          <a:lstStyle/>
          <a:p>
            <a:r>
              <a:rPr lang="en-US" dirty="0"/>
              <a:t>We can use SELECT on a view, and delete it, or use it in queries, but we can’t add data to it or edit its properties</a:t>
            </a:r>
          </a:p>
        </p:txBody>
      </p:sp>
    </p:spTree>
    <p:extLst>
      <p:ext uri="{BB962C8B-B14F-4D97-AF65-F5344CB8AC3E}">
        <p14:creationId xmlns:p14="http://schemas.microsoft.com/office/powerpoint/2010/main" val="3764639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73AF32-B07F-B7A1-F797-987FF72990CF}"/>
              </a:ext>
            </a:extLst>
          </p:cNvPr>
          <p:cNvSpPr txBox="1"/>
          <p:nvPr/>
        </p:nvSpPr>
        <p:spPr>
          <a:xfrm>
            <a:off x="502024" y="448235"/>
            <a:ext cx="11205882" cy="4801314"/>
          </a:xfrm>
          <a:prstGeom prst="rect">
            <a:avLst/>
          </a:prstGeom>
          <a:noFill/>
        </p:spPr>
        <p:txBody>
          <a:bodyPr wrap="square" rtlCol="0">
            <a:spAutoFit/>
          </a:bodyPr>
          <a:lstStyle/>
          <a:p>
            <a:r>
              <a:rPr lang="en-US" b="1" dirty="0"/>
              <a:t>Joins and Run Time</a:t>
            </a:r>
          </a:p>
          <a:p>
            <a:endParaRPr lang="en-US" dirty="0"/>
          </a:p>
          <a:p>
            <a:r>
              <a:rPr lang="en-US" dirty="0"/>
              <a:t>Joins are computationally expensive on large databases,  they take a lot of time to run</a:t>
            </a:r>
          </a:p>
          <a:p>
            <a:endParaRPr lang="en-US" dirty="0"/>
          </a:p>
          <a:p>
            <a:r>
              <a:rPr lang="en-US" dirty="0"/>
              <a:t>Be aware of that before you run a large join on a big database. Some companies only run large queries at night, when there are fewer users and fewer transactions.</a:t>
            </a:r>
          </a:p>
          <a:p>
            <a:endParaRPr lang="en-US" dirty="0"/>
          </a:p>
          <a:p>
            <a:r>
              <a:rPr lang="en-US" dirty="0"/>
              <a:t>It is not uncommon to have </a:t>
            </a:r>
            <a:r>
              <a:rPr lang="en-US" i="1" dirty="0"/>
              <a:t>operational databases </a:t>
            </a:r>
            <a:r>
              <a:rPr lang="en-US" dirty="0"/>
              <a:t>and </a:t>
            </a:r>
            <a:r>
              <a:rPr lang="en-US" i="1" dirty="0"/>
              <a:t>developmental databases </a:t>
            </a:r>
            <a:r>
              <a:rPr lang="en-US" dirty="0"/>
              <a:t>running in a large organization</a:t>
            </a:r>
          </a:p>
          <a:p>
            <a:endParaRPr lang="en-US" dirty="0"/>
          </a:p>
          <a:p>
            <a:r>
              <a:rPr lang="en-US" dirty="0"/>
              <a:t>All the code testing is done on the developmental database, to avoid problems on the operational database that might harm the organization.</a:t>
            </a:r>
          </a:p>
          <a:p>
            <a:endParaRPr lang="en-US" dirty="0"/>
          </a:p>
          <a:p>
            <a:r>
              <a:rPr lang="en-US" dirty="0"/>
              <a:t>The developmental database is typically a copy of the operational database, which may not be slightly older (by days or weeks, not years) than the operational database. </a:t>
            </a:r>
          </a:p>
          <a:p>
            <a:endParaRPr lang="en-US" dirty="0"/>
          </a:p>
          <a:p>
            <a:r>
              <a:rPr lang="en-US" dirty="0"/>
              <a:t>Some GUIs or SQL servers have the ability to time the length of a query, or one could do it in Python code.  It is probably a good idea to do this,   we will look at this </a:t>
            </a:r>
            <a:r>
              <a:rPr lang="en-US"/>
              <a:t>using Python   </a:t>
            </a:r>
            <a:endParaRPr lang="en-US" dirty="0"/>
          </a:p>
        </p:txBody>
      </p:sp>
    </p:spTree>
    <p:extLst>
      <p:ext uri="{BB962C8B-B14F-4D97-AF65-F5344CB8AC3E}">
        <p14:creationId xmlns:p14="http://schemas.microsoft.com/office/powerpoint/2010/main" val="36649274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296</TotalTime>
  <Words>1899</Words>
  <Application>Microsoft Office PowerPoint</Application>
  <PresentationFormat>Widescreen</PresentationFormat>
  <Paragraphs>174</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Joins and Views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Joins and Views</dc:title>
  <dc:creator>H. David Sheets</dc:creator>
  <cp:lastModifiedBy>Sheets, Herbert</cp:lastModifiedBy>
  <cp:revision>7</cp:revision>
  <dcterms:created xsi:type="dcterms:W3CDTF">2022-08-09T18:03:16Z</dcterms:created>
  <dcterms:modified xsi:type="dcterms:W3CDTF">2025-02-06T19:03:22Z</dcterms:modified>
</cp:coreProperties>
</file>